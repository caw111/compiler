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pages.cs.wisc.edu/~fischer/cs536.s05/course.hold/html/NOTES/8.RUNTIME-VAR-ACCESS.html" TargetMode="External"/><Relationship Id="rId2" Type="http://schemas.openxmlformats.org/officeDocument/2006/relationships/hyperlink" Target="https://www.pcengines.ch/tp3.htm" TargetMode="External"/><Relationship Id="rId3" Type="http://schemas.openxmlformats.org/officeDocument/2006/relationships/hyperlink" Target="https://samiam95124.github.io/Pascal-P6/doc/the_p6_compiler.html" TargetMode="External"/><Relationship Id="rId4" Type="http://schemas.openxmlformats.org/officeDocument/2006/relationships/hyperlink" Target="https://www.freepascal.org/docs-html/current/prog/progse23.html" TargetMode="External"/><Relationship Id="rId5" Type="http://schemas.openxmlformats.org/officeDocument/2006/relationships/hyperlink" Target="https://gcc.gnu.org/onlinedocs/gccint/Trampolines.html" TargetMode="External"/><Relationship Id="rId6" Type="http://schemas.openxmlformats.org/officeDocument/2006/relationships/hyperlink" Target="https://devblogs.microsoft.com/dotnet/performance_improvements_in_net_7/" TargetMode="External"/><Relationship Id="rId7" Type="http://schemas.openxmlformats.org/officeDocument/2006/relationships/hyperlink" Target="https://en.cppreference.com/w/c/language/storage_duration" TargetMode="External"/><Relationship Id="rId8" Type="http://schemas.openxmlformats.org/officeDocument/2006/relationships/hyperlink" Target="https://docs.oracle.com/javase/specs/jvms/se26/html/jvms-2.html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" y="1188720"/>
            <a:ext cx="100584" cy="2889504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2416" y="1069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COMPILER PRINCIPLES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1673352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Display 区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1024128" y="27432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 C / Java 存储管理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1060704" y="3904488"/>
            <a:ext cx="9079992" cy="0"/>
          </a:xfrm>
          <a:prstGeom prst="line">
            <a:avLst/>
          </a:prstGeom>
          <a:noFill/>
          <a:ln w="13970">
            <a:solidFill>
              <a:srgbClr val="E0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25196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原理与优势   ·   编译系统调研   ·   内存模型对比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051560" y="6117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编译原理课程汇报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6960" y="611733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OVERVIEW  /  研究问题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三条主线，理解运行时存储管理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9224" y="2057400"/>
            <a:ext cx="353872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35000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3500" dirty="0"/>
          </a:p>
        </p:txBody>
      </p:sp>
      <p:sp>
        <p:nvSpPr>
          <p:cNvPr id="11" name="Shape 9"/>
          <p:cNvSpPr/>
          <p:nvPr/>
        </p:nvSpPr>
        <p:spPr>
          <a:xfrm>
            <a:off x="886968" y="3136392"/>
            <a:ext cx="3063240" cy="0"/>
          </a:xfrm>
          <a:prstGeom prst="line">
            <a:avLst/>
          </a:prstGeom>
          <a:noFill/>
          <a:ln w="12700">
            <a:solidFill>
              <a:srgbClr val="E0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374136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DISPLAY 的作用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86968" y="4050792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为什么需要词法层次寻址？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" y="4882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活动记录 · 非局部变量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07992" y="2057400"/>
            <a:ext cx="353872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35000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3500" dirty="0"/>
          </a:p>
        </p:txBody>
      </p:sp>
      <p:sp>
        <p:nvSpPr>
          <p:cNvPr id="17" name="Shape 15"/>
          <p:cNvSpPr/>
          <p:nvPr/>
        </p:nvSpPr>
        <p:spPr>
          <a:xfrm>
            <a:off x="4745736" y="3136392"/>
            <a:ext cx="3063240" cy="0"/>
          </a:xfrm>
          <a:prstGeom prst="line">
            <a:avLst/>
          </a:prstGeom>
          <a:noFill/>
          <a:ln w="12700">
            <a:solidFill>
              <a:srgbClr val="E0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3374136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编译系统的选择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45736" y="4050792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哪些编译器仍使用 Display？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45736" y="4882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历史实现 · 主流替代方案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66760" y="2057400"/>
            <a:ext cx="353872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235000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3500" dirty="0"/>
          </a:p>
        </p:txBody>
      </p:sp>
      <p:sp>
        <p:nvSpPr>
          <p:cNvPr id="23" name="Shape 21"/>
          <p:cNvSpPr/>
          <p:nvPr/>
        </p:nvSpPr>
        <p:spPr>
          <a:xfrm>
            <a:off x="8604504" y="3136392"/>
            <a:ext cx="3063240" cy="0"/>
          </a:xfrm>
          <a:prstGeom prst="line">
            <a:avLst/>
          </a:prstGeom>
          <a:noFill/>
          <a:ln w="12700">
            <a:solidFill>
              <a:srgbClr val="E0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04504" y="3374136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与 Java 的差异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604504" y="4050792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对象生命周期由谁管理？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04504" y="4882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存储期 · GC · 内存安全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01  /  DISPLAY 原理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调用关系与词法嵌套关系不同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参考：编译原理运行时环境、GCC Nested Functions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5193792" cy="4078224"/>
          </a:xfrm>
          <a:prstGeom prst="rect">
            <a:avLst/>
          </a:prstGeom>
          <a:solidFill>
            <a:srgbClr val="F6F8FB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185416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示例：Q 访问 A 定义的变量 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2761488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procedure A;          // 词法层次 1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896112" y="3150108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var x: integer;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96112" y="3538728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procedure Q;        // 词法层次 2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896112" y="3927348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73F7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begin x := x + 1; end;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896112" y="4315968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procedure R;        // 词法层次 2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96112" y="4704588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begin Q; end;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896112" y="5093208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begin R; end;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6089904" y="1938528"/>
            <a:ext cx="5486400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176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词法关系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8540496" y="21305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→  Q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64224" y="27340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的外层作用域属于 A</a:t>
            </a:r>
            <a:endParaRPr lang="en-US" sz="1430" dirty="0"/>
          </a:p>
        </p:txBody>
      </p:sp>
      <p:sp>
        <p:nvSpPr>
          <p:cNvPr id="23" name="Shape 21"/>
          <p:cNvSpPr/>
          <p:nvPr/>
        </p:nvSpPr>
        <p:spPr>
          <a:xfrm>
            <a:off x="6089904" y="3630168"/>
            <a:ext cx="5486400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867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实际调用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8138160" y="3840480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→  R  →  Q</a:t>
            </a:r>
            <a:endParaRPr lang="en-US" sz="1870" dirty="0"/>
          </a:p>
        </p:txBody>
      </p:sp>
      <p:sp>
        <p:nvSpPr>
          <p:cNvPr id="26" name="Text 24"/>
          <p:cNvSpPr/>
          <p:nvPr/>
        </p:nvSpPr>
        <p:spPr>
          <a:xfrm>
            <a:off x="6364224" y="440740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的调用者是 R，外层却是 A</a:t>
            </a:r>
            <a:endParaRPr lang="en-US" sz="1430" dirty="0"/>
          </a:p>
        </p:txBody>
      </p:sp>
      <p:sp>
        <p:nvSpPr>
          <p:cNvPr id="27" name="Shape 25"/>
          <p:cNvSpPr/>
          <p:nvPr/>
        </p:nvSpPr>
        <p:spPr>
          <a:xfrm>
            <a:off x="6089904" y="5413248"/>
            <a:ext cx="5477256" cy="320040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5429707"/>
            <a:ext cx="5276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关键：应定位 AR(A)，而非 AR(R)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01  /  DISPLAY 原理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Display：用词法层次直接定位活动记录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参考：Pascal-P6 编译器手册 §14.9.6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67335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运行时：Main → A → R → Q，当前过程为 Q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9224" y="2212848"/>
            <a:ext cx="5120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441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DISPLAY  /  按层次索引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41832" y="2916936"/>
            <a:ext cx="1042416" cy="594360"/>
          </a:xfrm>
          <a:prstGeom prst="rect">
            <a:avLst/>
          </a:prstGeom>
          <a:solidFill>
            <a:srgbClr val="EFF5FC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98551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2357A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D[0]</a:t>
            </a:r>
            <a:endParaRPr lang="en-US" sz="1740" dirty="0"/>
          </a:p>
        </p:txBody>
      </p:sp>
      <p:sp>
        <p:nvSpPr>
          <p:cNvPr id="15" name="Text 13"/>
          <p:cNvSpPr/>
          <p:nvPr/>
        </p:nvSpPr>
        <p:spPr>
          <a:xfrm>
            <a:off x="2148840" y="297637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834640" y="299008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AR(Main)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834640" y="335584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主程序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1832" y="3785616"/>
            <a:ext cx="1042416" cy="594360"/>
          </a:xfrm>
          <a:prstGeom prst="rect">
            <a:avLst/>
          </a:prstGeom>
          <a:solidFill>
            <a:srgbClr val="EFF5FC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85419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2357A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D[1]</a:t>
            </a:r>
            <a:endParaRPr lang="en-US" sz="1740" dirty="0"/>
          </a:p>
        </p:txBody>
      </p:sp>
      <p:sp>
        <p:nvSpPr>
          <p:cNvPr id="20" name="Text 18"/>
          <p:cNvSpPr/>
          <p:nvPr/>
        </p:nvSpPr>
        <p:spPr>
          <a:xfrm>
            <a:off x="2148840" y="38450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834640" y="385876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AR(A)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834640" y="422452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含变量 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1832" y="4654296"/>
            <a:ext cx="1042416" cy="594360"/>
          </a:xfrm>
          <a:prstGeom prst="rect">
            <a:avLst/>
          </a:prstGeom>
          <a:solidFill>
            <a:srgbClr val="EFF5FC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472287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2357A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D[2]</a:t>
            </a:r>
            <a:endParaRPr lang="en-US" sz="1740" dirty="0"/>
          </a:p>
        </p:txBody>
      </p:sp>
      <p:sp>
        <p:nvSpPr>
          <p:cNvPr id="25" name="Text 23"/>
          <p:cNvSpPr/>
          <p:nvPr/>
        </p:nvSpPr>
        <p:spPr>
          <a:xfrm>
            <a:off x="2148840" y="471373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834640" y="472744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AR(Q)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2834640" y="509320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当前层次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53328" y="2212848"/>
            <a:ext cx="548640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24414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运行栈  /  栈顶在上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382512" y="2834640"/>
            <a:ext cx="4800600" cy="566928"/>
          </a:xfrm>
          <a:prstGeom prst="rect">
            <a:avLst/>
          </a:prstGeom>
          <a:solidFill>
            <a:srgbClr val="EFF5FC"/>
          </a:solidFill>
          <a:ln w="16510">
            <a:solidFill>
              <a:srgbClr val="2357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2824" y="29260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AR(Q)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8229600" y="2962656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层次 2 · 当前活动帧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6382512" y="3511296"/>
            <a:ext cx="48006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E0E6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360273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AR(R)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8229600" y="363931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层次 2 · 暂未对应 D[2]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6382512" y="4187952"/>
            <a:ext cx="48006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E0E6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92824" y="42793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AR(A)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8229600" y="431596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层次 1 · x 的位置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6382512" y="4864608"/>
            <a:ext cx="48006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E0E6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92824" y="495604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AR(Main)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8229600" y="499262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层次 0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658368" y="5971032"/>
            <a:ext cx="10881360" cy="265176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975604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非局部变量 x 的地址 = D[1] 指向的活动记录基址 + 编译期确定的偏移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01  /  DISPLAY 原理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进入与退出：保存、覆盖、恢复 Display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参考：编译原理：带 Display 的活动记录维护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" y="2240280"/>
            <a:ext cx="3502152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487168"/>
            <a:ext cx="72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311810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8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 正在运行</a:t>
            </a:r>
            <a:endParaRPr lang="en-US" sz="1980" dirty="0"/>
          </a:p>
        </p:txBody>
      </p:sp>
      <p:sp>
        <p:nvSpPr>
          <p:cNvPr id="13" name="Shape 11"/>
          <p:cNvSpPr/>
          <p:nvPr/>
        </p:nvSpPr>
        <p:spPr>
          <a:xfrm>
            <a:off x="941832" y="3685032"/>
            <a:ext cx="2962656" cy="0"/>
          </a:xfrm>
          <a:prstGeom prst="line">
            <a:avLst/>
          </a:prstGeom>
          <a:noFill/>
          <a:ln w="12700">
            <a:solidFill>
              <a:srgbClr val="E0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959352"/>
            <a:ext cx="2953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F7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D[2]  →  AR(R)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41832" y="4727448"/>
            <a:ext cx="29443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层次 2 对应 R 的当前帧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80560" y="2240280"/>
            <a:ext cx="3502152" cy="3264408"/>
          </a:xfrm>
          <a:prstGeom prst="rect">
            <a:avLst/>
          </a:prstGeom>
          <a:solidFill>
            <a:srgbClr val="EFF5FC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2487168"/>
            <a:ext cx="72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27448" y="311810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8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 调用 Q</a:t>
            </a:r>
            <a:endParaRPr lang="en-US" sz="1980" dirty="0"/>
          </a:p>
        </p:txBody>
      </p:sp>
      <p:sp>
        <p:nvSpPr>
          <p:cNvPr id="19" name="Shape 17"/>
          <p:cNvSpPr/>
          <p:nvPr/>
        </p:nvSpPr>
        <p:spPr>
          <a:xfrm>
            <a:off x="4754880" y="3685032"/>
            <a:ext cx="2962656" cy="0"/>
          </a:xfrm>
          <a:prstGeom prst="line">
            <a:avLst/>
          </a:prstGeom>
          <a:noFill/>
          <a:ln w="12700">
            <a:solidFill>
              <a:srgbClr val="E0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3959352"/>
            <a:ext cx="2953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F7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D[2]  →  AR(Q)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754880" y="4727448"/>
            <a:ext cx="29443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保存旧 D[2]；用 Q 的帧替换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93608" y="2240280"/>
            <a:ext cx="3502152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58784" y="2487168"/>
            <a:ext cx="72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540496" y="311810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8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返回 R</a:t>
            </a:r>
            <a:endParaRPr lang="en-US" sz="1980" dirty="0"/>
          </a:p>
        </p:txBody>
      </p:sp>
      <p:sp>
        <p:nvSpPr>
          <p:cNvPr id="25" name="Shape 23"/>
          <p:cNvSpPr/>
          <p:nvPr/>
        </p:nvSpPr>
        <p:spPr>
          <a:xfrm>
            <a:off x="8567928" y="3685032"/>
            <a:ext cx="2962656" cy="0"/>
          </a:xfrm>
          <a:prstGeom prst="line">
            <a:avLst/>
          </a:prstGeom>
          <a:noFill/>
          <a:ln w="12700">
            <a:solidFill>
              <a:srgbClr val="E0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7072" y="3959352"/>
            <a:ext cx="2953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F7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D[2]  →  AR(R)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567928" y="4727448"/>
            <a:ext cx="29443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从保存区恢复原来的表项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0664" y="5824728"/>
            <a:ext cx="10789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递归调用同样需要保存旧指针：相同词法层次可以同时存在多个活动记录。</a:t>
            </a:r>
            <a:endParaRPr lang="en-US" sz="1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01  /  DISPLAY 优点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核心收益：非局部变量访问更高效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参考：Display / 静态链复杂度为教材模型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2002536"/>
            <a:ext cx="5294376" cy="3438144"/>
          </a:xfrm>
          <a:prstGeom prst="rect">
            <a:avLst/>
          </a:prstGeom>
          <a:solidFill>
            <a:srgbClr val="F6F8FB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08776" y="2002536"/>
            <a:ext cx="5294376" cy="3438144"/>
          </a:xfrm>
          <a:prstGeom prst="rect">
            <a:avLst/>
          </a:prstGeom>
          <a:solidFill>
            <a:srgbClr val="EFF5FC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286000"/>
            <a:ext cx="4581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静态链  Static Chain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41832" y="2980944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67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AR(k) → AR(k−1) → … → AR(j)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1832" y="3749040"/>
            <a:ext cx="45902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O(d)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69264" y="4727448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逐级追踪 d 个词法层次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83096" y="22860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Display Table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83096" y="298094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F7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D[j] → AR(j)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3952" y="3749040"/>
            <a:ext cx="4553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O(1)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501384" y="4727448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一次按词法层次索引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40664" y="5696712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 = 当前层次与目标变量所在层次之差。访问更快的代价是在调用和返回时维护表项。</a:t>
            </a:r>
            <a:endParaRPr lang="en-US" sz="15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01  /  DISPLAY 权衡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访问开销减少，维护开销增加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参考：Wisconsin CS536 Runtime Variable Access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2011680"/>
            <a:ext cx="5303520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2011680"/>
            <a:ext cx="5303520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011680"/>
            <a:ext cx="5303520" cy="594360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0488" y="2011680"/>
            <a:ext cx="5303520" cy="59436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20939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55664" y="20939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代价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32688" y="3008376"/>
            <a:ext cx="100584" cy="100584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907792"/>
            <a:ext cx="4361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非局部变量 O(1) 定位</a:t>
            </a:r>
            <a:endParaRPr lang="en-US" sz="1660" dirty="0"/>
          </a:p>
        </p:txBody>
      </p:sp>
      <p:sp>
        <p:nvSpPr>
          <p:cNvPr id="18" name="Shape 16"/>
          <p:cNvSpPr/>
          <p:nvPr/>
        </p:nvSpPr>
        <p:spPr>
          <a:xfrm>
            <a:off x="932688" y="3767328"/>
            <a:ext cx="100584" cy="100584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3666744"/>
            <a:ext cx="4361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多次访问时减少静态链遍历</a:t>
            </a:r>
            <a:endParaRPr lang="en-US" sz="1660" dirty="0"/>
          </a:p>
        </p:txBody>
      </p:sp>
      <p:sp>
        <p:nvSpPr>
          <p:cNvPr id="20" name="Shape 18"/>
          <p:cNvSpPr/>
          <p:nvPr/>
        </p:nvSpPr>
        <p:spPr>
          <a:xfrm>
            <a:off x="932688" y="4526280"/>
            <a:ext cx="100584" cy="100584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7008" y="4425696"/>
            <a:ext cx="4361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地址计算规则简单：层次 + 偏移</a:t>
            </a:r>
            <a:endParaRPr lang="en-US" sz="1660" dirty="0"/>
          </a:p>
        </p:txBody>
      </p:sp>
      <p:sp>
        <p:nvSpPr>
          <p:cNvPr id="22" name="Shape 20"/>
          <p:cNvSpPr/>
          <p:nvPr/>
        </p:nvSpPr>
        <p:spPr>
          <a:xfrm>
            <a:off x="6483096" y="3008376"/>
            <a:ext cx="100584" cy="100584"/>
          </a:xfrm>
          <a:prstGeom prst="rect">
            <a:avLst/>
          </a:prstGeom>
          <a:solidFill>
            <a:srgbClr val="596677"/>
          </a:solidFill>
          <a:ln w="12700">
            <a:solidFill>
              <a:srgbClr val="5966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2907792"/>
            <a:ext cx="4361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过程调用和退出时需维护 Display</a:t>
            </a:r>
            <a:endParaRPr lang="en-US" sz="1660" dirty="0"/>
          </a:p>
        </p:txBody>
      </p:sp>
      <p:sp>
        <p:nvSpPr>
          <p:cNvPr id="24" name="Shape 22"/>
          <p:cNvSpPr/>
          <p:nvPr/>
        </p:nvSpPr>
        <p:spPr>
          <a:xfrm>
            <a:off x="6483096" y="3767328"/>
            <a:ext cx="100584" cy="100584"/>
          </a:xfrm>
          <a:prstGeom prst="rect">
            <a:avLst/>
          </a:prstGeom>
          <a:solidFill>
            <a:srgbClr val="596677"/>
          </a:solidFill>
          <a:ln w="12700">
            <a:solidFill>
              <a:srgbClr val="5966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3666744"/>
            <a:ext cx="4361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递归 / 同层调用要恢复旧表项</a:t>
            </a:r>
            <a:endParaRPr lang="en-US" sz="1660" dirty="0"/>
          </a:p>
        </p:txBody>
      </p:sp>
      <p:sp>
        <p:nvSpPr>
          <p:cNvPr id="26" name="Shape 24"/>
          <p:cNvSpPr/>
          <p:nvPr/>
        </p:nvSpPr>
        <p:spPr>
          <a:xfrm>
            <a:off x="6483096" y="4526280"/>
            <a:ext cx="100584" cy="100584"/>
          </a:xfrm>
          <a:prstGeom prst="rect">
            <a:avLst/>
          </a:prstGeom>
          <a:solidFill>
            <a:srgbClr val="596677"/>
          </a:solidFill>
          <a:ln w="12700">
            <a:solidFill>
              <a:srgbClr val="5966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4425696"/>
            <a:ext cx="4361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线程并发要求独立的运行时环境</a:t>
            </a:r>
            <a:endParaRPr lang="en-US" sz="1660" dirty="0"/>
          </a:p>
        </p:txBody>
      </p:sp>
      <p:sp>
        <p:nvSpPr>
          <p:cNvPr id="28" name="Text 26"/>
          <p:cNvSpPr/>
          <p:nvPr/>
        </p:nvSpPr>
        <p:spPr>
          <a:xfrm>
            <a:off x="777240" y="5879592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适用场景：词法嵌套较深、外层变量引用频繁，且调用栈结构可以可靠维护。</a:t>
            </a:r>
            <a:endParaRPr lang="en-US" sz="14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02  /  编译系统调研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谁还采用 Display？先区分历史与现在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参考：Turbo Pascal 3 internals；Pascal-P6 Compiler §14.9.6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93392"/>
            <a:ext cx="10789920" cy="694944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130552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6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调查结论：目前很难找到采用经典 Display 设计的主流通用语言编译系统。</a:t>
            </a:r>
            <a:endParaRPr lang="en-US" sz="1860" dirty="0"/>
          </a:p>
        </p:txBody>
      </p:sp>
      <p:sp>
        <p:nvSpPr>
          <p:cNvPr id="12" name="Shape 10"/>
          <p:cNvSpPr/>
          <p:nvPr/>
        </p:nvSpPr>
        <p:spPr>
          <a:xfrm>
            <a:off x="685800" y="2907792"/>
            <a:ext cx="5212080" cy="2624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2907792"/>
            <a:ext cx="5330952" cy="2624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" y="3136392"/>
            <a:ext cx="1517904" cy="320040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152851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历史典型案例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950976" y="367588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Turbo Pascal 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4325112"/>
            <a:ext cx="4544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为嵌套过程在栈帧中建立 Display 副本，支持跨层访问外层变量。</a:t>
            </a:r>
            <a:endParaRPr lang="en-US" sz="1540" dirty="0"/>
          </a:p>
        </p:txBody>
      </p:sp>
      <p:sp>
        <p:nvSpPr>
          <p:cNvPr id="18" name="Shape 16"/>
          <p:cNvSpPr/>
          <p:nvPr/>
        </p:nvSpPr>
        <p:spPr>
          <a:xfrm>
            <a:off x="6419088" y="3136392"/>
            <a:ext cx="1993392" cy="320040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3152851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仍可获得的实现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6419088" y="367588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Pascal-P6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19088" y="4325112"/>
            <a:ext cx="4535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手册明确描述 Display 存放各词法层次的帧指针，由运行栈维护。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777240" y="5797296"/>
            <a:ext cx="105796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重点：Pascal-P6 是可核查的现存实现，但不代表广泛使用的主流编译器。</a:t>
            </a:r>
            <a:endParaRPr lang="en-US" sz="14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02  /  编译系统调研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现代编译系统常见的替代机制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参考：Free Pascal 官方文档；GCC Internals；Microsoft .NET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4088" y="1965960"/>
            <a:ext cx="10817352" cy="530352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05740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 / 语言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3300984" y="2057400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外层环境获取方式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6638544" y="2057400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机制归类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9272016" y="205740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经典 Display？</a:t>
            </a:r>
            <a:endParaRPr lang="en-US" sz="1540" dirty="0"/>
          </a:p>
        </p:txBody>
      </p:sp>
      <p:sp>
        <p:nvSpPr>
          <p:cNvPr id="15" name="Shape 13"/>
          <p:cNvSpPr/>
          <p:nvPr/>
        </p:nvSpPr>
        <p:spPr>
          <a:xfrm>
            <a:off x="704088" y="2505456"/>
            <a:ext cx="10817352" cy="722376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59689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Free Pascal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300984" y="2596896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隐藏的外层帧指针参数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6638544" y="2596896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静态链式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272016" y="2596896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未见证据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4088" y="3227832"/>
            <a:ext cx="10817352" cy="0"/>
          </a:xfrm>
          <a:prstGeom prst="line">
            <a:avLst/>
          </a:prstGeom>
          <a:noFill/>
          <a:ln w="6985">
            <a:solidFill>
              <a:srgbClr val="E0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" y="3227832"/>
            <a:ext cx="10817352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331927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GCC / GNU C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300984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static chain；必要时 trampoline</a:t>
            </a:r>
            <a:endParaRPr lang="en-US" sz="1360" dirty="0"/>
          </a:p>
        </p:txBody>
      </p:sp>
      <p:sp>
        <p:nvSpPr>
          <p:cNvPr id="24" name="Text 22"/>
          <p:cNvSpPr/>
          <p:nvPr/>
        </p:nvSpPr>
        <p:spPr>
          <a:xfrm>
            <a:off x="6638544" y="33192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静态链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272016" y="3319272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04088" y="3950208"/>
            <a:ext cx="10817352" cy="0"/>
          </a:xfrm>
          <a:prstGeom prst="line">
            <a:avLst/>
          </a:prstGeom>
          <a:noFill/>
          <a:ln w="6985">
            <a:solidFill>
              <a:srgbClr val="E0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3950208"/>
            <a:ext cx="10817352" cy="722376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04164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GNAT / Ada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300984" y="404164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目标相关的静态链接 / 展开机制</a:t>
            </a:r>
            <a:endParaRPr lang="en-US" sz="1360" dirty="0"/>
          </a:p>
        </p:txBody>
      </p:sp>
      <p:sp>
        <p:nvSpPr>
          <p:cNvPr id="30" name="Text 28"/>
          <p:cNvSpPr/>
          <p:nvPr/>
        </p:nvSpPr>
        <p:spPr>
          <a:xfrm>
            <a:off x="6638544" y="404164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依实现而定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272016" y="4041648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未证实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04088" y="4672584"/>
            <a:ext cx="10817352" cy="0"/>
          </a:xfrm>
          <a:prstGeom prst="line">
            <a:avLst/>
          </a:prstGeom>
          <a:noFill/>
          <a:ln w="6985">
            <a:solidFill>
              <a:srgbClr val="E0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" y="4672584"/>
            <a:ext cx="10817352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4764024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Roslyn / C#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3300984" y="4764024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捕获变量放入 display class</a:t>
            </a:r>
            <a:endParaRPr lang="en-US" sz="1360" dirty="0"/>
          </a:p>
        </p:txBody>
      </p:sp>
      <p:sp>
        <p:nvSpPr>
          <p:cNvPr id="36" name="Text 34"/>
          <p:cNvSpPr/>
          <p:nvPr/>
        </p:nvSpPr>
        <p:spPr>
          <a:xfrm>
            <a:off x="6638544" y="47640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闭包环境对象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272016" y="4764024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704088" y="5394960"/>
            <a:ext cx="10817352" cy="0"/>
          </a:xfrm>
          <a:prstGeom prst="line">
            <a:avLst/>
          </a:prstGeom>
          <a:noFill/>
          <a:ln w="6985">
            <a:solidFill>
              <a:srgbClr val="E0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5632704"/>
            <a:ext cx="10744200" cy="484632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" y="5705856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同样支持嵌套函数 ≠ 使用 Display；C# 的“display class”也不是经典 Display 表。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02  /  机制对照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Display、静态链与闭包环境的区别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参考：Pascal-P6 · GCC · Microsoft .NET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2066544"/>
            <a:ext cx="3483864" cy="3621024"/>
          </a:xfrm>
          <a:prstGeom prst="rect">
            <a:avLst/>
          </a:prstGeom>
          <a:solidFill>
            <a:srgbClr val="EFF5FC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76856"/>
            <a:ext cx="640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6112" y="2862072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3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经典 Display</a:t>
            </a:r>
            <a:endParaRPr lang="en-US" sz="2030" dirty="0"/>
          </a:p>
        </p:txBody>
      </p:sp>
      <p:sp>
        <p:nvSpPr>
          <p:cNvPr id="13" name="Text 11"/>
          <p:cNvSpPr/>
          <p:nvPr/>
        </p:nvSpPr>
        <p:spPr>
          <a:xfrm>
            <a:off x="886968" y="3493008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173F7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D[level] → AR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905256" y="4123944"/>
            <a:ext cx="2953512" cy="0"/>
          </a:xfrm>
          <a:prstGeom prst="line">
            <a:avLst/>
          </a:prstGeom>
          <a:noFill/>
          <a:ln w="12700">
            <a:solidFill>
              <a:srgbClr val="E0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38912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按词法层次索引当前活动帧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896112" y="521208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索引快速；需维护表项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4480560" y="2066544"/>
            <a:ext cx="3483864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276856"/>
            <a:ext cx="640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18304" y="2862072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3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静态链</a:t>
            </a:r>
            <a:endParaRPr lang="en-US" sz="2030" dirty="0"/>
          </a:p>
        </p:txBody>
      </p:sp>
      <p:sp>
        <p:nvSpPr>
          <p:cNvPr id="20" name="Text 18"/>
          <p:cNvSpPr/>
          <p:nvPr/>
        </p:nvSpPr>
        <p:spPr>
          <a:xfrm>
            <a:off x="4709160" y="3493008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173F7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AR → parent AR</a:t>
            </a:r>
            <a:endParaRPr lang="en-US" sz="1470" dirty="0"/>
          </a:p>
        </p:txBody>
      </p:sp>
      <p:sp>
        <p:nvSpPr>
          <p:cNvPr id="21" name="Shape 19"/>
          <p:cNvSpPr/>
          <p:nvPr/>
        </p:nvSpPr>
        <p:spPr>
          <a:xfrm>
            <a:off x="4727448" y="4123944"/>
            <a:ext cx="2953512" cy="0"/>
          </a:xfrm>
          <a:prstGeom prst="line">
            <a:avLst/>
          </a:prstGeom>
          <a:noFill/>
          <a:ln w="12700">
            <a:solidFill>
              <a:srgbClr val="E0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438912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每个活动记录关联词法父环境</a:t>
            </a:r>
            <a:endParaRPr lang="en-US" sz="1460" dirty="0"/>
          </a:p>
        </p:txBody>
      </p:sp>
      <p:sp>
        <p:nvSpPr>
          <p:cNvPr id="23" name="Text 21"/>
          <p:cNvSpPr/>
          <p:nvPr/>
        </p:nvSpPr>
        <p:spPr>
          <a:xfrm>
            <a:off x="4718304" y="521208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调用维护简单；多层访问需追链</a:t>
            </a:r>
            <a:endParaRPr lang="en-US" sz="1210" dirty="0"/>
          </a:p>
        </p:txBody>
      </p:sp>
      <p:sp>
        <p:nvSpPr>
          <p:cNvPr id="24" name="Shape 22"/>
          <p:cNvSpPr/>
          <p:nvPr/>
        </p:nvSpPr>
        <p:spPr>
          <a:xfrm>
            <a:off x="8302752" y="2066544"/>
            <a:ext cx="3483864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58784" y="2276856"/>
            <a:ext cx="640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540496" y="2862072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3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闭包环境</a:t>
            </a:r>
            <a:endParaRPr lang="en-US" sz="2030" dirty="0"/>
          </a:p>
        </p:txBody>
      </p:sp>
      <p:sp>
        <p:nvSpPr>
          <p:cNvPr id="27" name="Text 25"/>
          <p:cNvSpPr/>
          <p:nvPr/>
        </p:nvSpPr>
        <p:spPr>
          <a:xfrm>
            <a:off x="8531352" y="3493008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173F7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closure → fields</a:t>
            </a:r>
            <a:endParaRPr lang="en-US" sz="1470" dirty="0"/>
          </a:p>
        </p:txBody>
      </p:sp>
      <p:sp>
        <p:nvSpPr>
          <p:cNvPr id="28" name="Shape 26"/>
          <p:cNvSpPr/>
          <p:nvPr/>
        </p:nvSpPr>
        <p:spPr>
          <a:xfrm>
            <a:off x="8549640" y="4123944"/>
            <a:ext cx="2953512" cy="0"/>
          </a:xfrm>
          <a:prstGeom prst="line">
            <a:avLst/>
          </a:prstGeom>
          <a:noFill/>
          <a:ln w="12700">
            <a:solidFill>
              <a:srgbClr val="E0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0496" y="438912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把捕获的外层变量放进环境对象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8540496" y="521208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支持变量跨越原调用存活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768096" y="5888736"/>
            <a:ext cx="10680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“display class”仅是 Roslyn 为闭包生成的类名，与运行时按词法层次排列的 Display 表不同。</a:t>
            </a:r>
            <a:endParaRPr lang="en-US" sz="14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03  /  C 语言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语言：四类存储期决定对象生命周期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参考：cppreference：C Storage Duration（C23）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5257800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21992"/>
            <a:ext cx="4562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自动存储期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4617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9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进入相应块时分配，离开块时结束</a:t>
            </a:r>
            <a:endParaRPr lang="en-US" sz="1490" dirty="0"/>
          </a:p>
        </p:txBody>
      </p:sp>
      <p:sp>
        <p:nvSpPr>
          <p:cNvPr id="13" name="Text 11"/>
          <p:cNvSpPr/>
          <p:nvPr/>
        </p:nvSpPr>
        <p:spPr>
          <a:xfrm>
            <a:off x="914400" y="32095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函数参数、普通局部变量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227064" y="2011680"/>
            <a:ext cx="5257800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221992"/>
            <a:ext cx="4562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静态存储期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6455664" y="2697480"/>
            <a:ext cx="4617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9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在整个程序执行期间一直存在</a:t>
            </a:r>
            <a:endParaRPr lang="en-US" sz="1490" dirty="0"/>
          </a:p>
        </p:txBody>
      </p:sp>
      <p:sp>
        <p:nvSpPr>
          <p:cNvPr id="17" name="Text 15"/>
          <p:cNvSpPr/>
          <p:nvPr/>
        </p:nvSpPr>
        <p:spPr>
          <a:xfrm>
            <a:off x="6455664" y="32095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全局变量、static 局部变量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85800" y="3858768"/>
            <a:ext cx="5257800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69080"/>
            <a:ext cx="4562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线程存储期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914400" y="4544568"/>
            <a:ext cx="4617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9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在所属线程的整个执行期间存在</a:t>
            </a:r>
            <a:endParaRPr lang="en-US" sz="1490" dirty="0"/>
          </a:p>
        </p:txBody>
      </p:sp>
      <p:sp>
        <p:nvSpPr>
          <p:cNvPr id="21" name="Text 19"/>
          <p:cNvSpPr/>
          <p:nvPr/>
        </p:nvSpPr>
        <p:spPr>
          <a:xfrm>
            <a:off x="914400" y="50566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_Thread_local / thread_local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227064" y="3858768"/>
            <a:ext cx="5257800" cy="1581912"/>
          </a:xfrm>
          <a:prstGeom prst="rect">
            <a:avLst/>
          </a:prstGeom>
          <a:solidFill>
            <a:srgbClr val="EFF5FC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4069080"/>
            <a:ext cx="4562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已分配存储期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6455664" y="4544568"/>
            <a:ext cx="4617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9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显式申请与释放决定其生命周期</a:t>
            </a:r>
            <a:endParaRPr lang="en-US" sz="1490" dirty="0"/>
          </a:p>
        </p:txBody>
      </p:sp>
      <p:sp>
        <p:nvSpPr>
          <p:cNvPr id="25" name="Text 23"/>
          <p:cNvSpPr/>
          <p:nvPr/>
        </p:nvSpPr>
        <p:spPr>
          <a:xfrm>
            <a:off x="6455664" y="50566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malloc / calloc / free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758952" y="5925312"/>
            <a:ext cx="10698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注意：C 标准定义的是“存储期”；栈、堆、数据段属于常见实现层面的组织方式。</a:t>
            </a:r>
            <a:endParaRPr lang="en-US" sz="14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03  /  C 语言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C：动态内存由程序显式申请和释放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参考：cppreference：malloc / free / C Object Lifetime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" y="1993392"/>
            <a:ext cx="5696712" cy="3986784"/>
          </a:xfrm>
          <a:prstGeom prst="rect">
            <a:avLst/>
          </a:prstGeom>
          <a:solidFill>
            <a:srgbClr val="F6F8FB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2128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7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示例：malloc 与 free</a:t>
            </a:r>
            <a:endParaRPr lang="en-US" sz="1770" dirty="0"/>
          </a:p>
        </p:txBody>
      </p:sp>
      <p:sp>
        <p:nvSpPr>
          <p:cNvPr id="12" name="Text 10"/>
          <p:cNvSpPr/>
          <p:nvPr/>
        </p:nvSpPr>
        <p:spPr>
          <a:xfrm>
            <a:off x="950976" y="2670048"/>
            <a:ext cx="5120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#include &lt;stdlib.h&gt;</a:t>
            </a:r>
            <a:endParaRPr lang="en-US" sz="1290" dirty="0"/>
          </a:p>
        </p:txBody>
      </p:sp>
      <p:sp>
        <p:nvSpPr>
          <p:cNvPr id="13" name="Text 11"/>
          <p:cNvSpPr/>
          <p:nvPr/>
        </p:nvSpPr>
        <p:spPr>
          <a:xfrm>
            <a:off x="950976" y="2964485"/>
            <a:ext cx="5120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90" dirty="0"/>
          </a:p>
        </p:txBody>
      </p:sp>
      <p:sp>
        <p:nvSpPr>
          <p:cNvPr id="14" name="Text 12"/>
          <p:cNvSpPr/>
          <p:nvPr/>
        </p:nvSpPr>
        <p:spPr>
          <a:xfrm>
            <a:off x="950976" y="3258922"/>
            <a:ext cx="5120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 main(void) {</a:t>
            </a:r>
            <a:endParaRPr lang="en-US" sz="1290" dirty="0"/>
          </a:p>
        </p:txBody>
      </p:sp>
      <p:sp>
        <p:nvSpPr>
          <p:cNvPr id="15" name="Text 13"/>
          <p:cNvSpPr/>
          <p:nvPr/>
        </p:nvSpPr>
        <p:spPr>
          <a:xfrm>
            <a:off x="950976" y="3553358"/>
            <a:ext cx="5120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173F7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int *p = malloc(sizeof *p);</a:t>
            </a:r>
            <a:endParaRPr lang="en-US" sz="1290" dirty="0"/>
          </a:p>
        </p:txBody>
      </p:sp>
      <p:sp>
        <p:nvSpPr>
          <p:cNvPr id="16" name="Text 14"/>
          <p:cNvSpPr/>
          <p:nvPr/>
        </p:nvSpPr>
        <p:spPr>
          <a:xfrm>
            <a:off x="950976" y="3847795"/>
            <a:ext cx="5120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(p != NULL) {</a:t>
            </a:r>
            <a:endParaRPr lang="en-US" sz="1290" dirty="0"/>
          </a:p>
        </p:txBody>
      </p:sp>
      <p:sp>
        <p:nvSpPr>
          <p:cNvPr id="17" name="Text 15"/>
          <p:cNvSpPr/>
          <p:nvPr/>
        </p:nvSpPr>
        <p:spPr>
          <a:xfrm>
            <a:off x="950976" y="4142232"/>
            <a:ext cx="5120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*p = 42;</a:t>
            </a:r>
            <a:endParaRPr lang="en-US" sz="1290" dirty="0"/>
          </a:p>
        </p:txBody>
      </p:sp>
      <p:sp>
        <p:nvSpPr>
          <p:cNvPr id="18" name="Text 16"/>
          <p:cNvSpPr/>
          <p:nvPr/>
        </p:nvSpPr>
        <p:spPr>
          <a:xfrm>
            <a:off x="950976" y="4436669"/>
            <a:ext cx="5120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173F7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free(p);</a:t>
            </a:r>
            <a:endParaRPr lang="en-US" sz="1290" dirty="0"/>
          </a:p>
        </p:txBody>
      </p:sp>
      <p:sp>
        <p:nvSpPr>
          <p:cNvPr id="19" name="Text 17"/>
          <p:cNvSpPr/>
          <p:nvPr/>
        </p:nvSpPr>
        <p:spPr>
          <a:xfrm>
            <a:off x="950976" y="4731106"/>
            <a:ext cx="5120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 = NULL;</a:t>
            </a:r>
            <a:endParaRPr lang="en-US" sz="1290" dirty="0"/>
          </a:p>
        </p:txBody>
      </p:sp>
      <p:sp>
        <p:nvSpPr>
          <p:cNvPr id="20" name="Text 18"/>
          <p:cNvSpPr/>
          <p:nvPr/>
        </p:nvSpPr>
        <p:spPr>
          <a:xfrm>
            <a:off x="950976" y="5025542"/>
            <a:ext cx="5120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50976" y="5319979"/>
            <a:ext cx="5120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D283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290" dirty="0"/>
          </a:p>
        </p:txBody>
      </p:sp>
      <p:sp>
        <p:nvSpPr>
          <p:cNvPr id="22" name="Shape 20"/>
          <p:cNvSpPr/>
          <p:nvPr/>
        </p:nvSpPr>
        <p:spPr>
          <a:xfrm>
            <a:off x="6620256" y="1993392"/>
            <a:ext cx="489204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194560"/>
            <a:ext cx="4142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控制力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6912864" y="2624328"/>
            <a:ext cx="4306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按需分配和释放，可直接操作地址。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6620256" y="3246120"/>
            <a:ext cx="489204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447288"/>
            <a:ext cx="4142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开发者责任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912864" y="3877056"/>
            <a:ext cx="4306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保证释放正确、指针有效、边界合法。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6620256" y="4498848"/>
            <a:ext cx="4892040" cy="1472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4690872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典型错误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6912864" y="5157216"/>
            <a:ext cx="43708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内存泄漏 / 越界访问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悬空指针 / 重复释放</a:t>
            </a:r>
            <a:endParaRPr lang="en-US" sz="14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03  /  Java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Java：JVM 的运行时数据区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参考：Java Virtual Machine Specification · Java SE 26 §2.5–2.6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" y="2011680"/>
            <a:ext cx="5221224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53912" y="201168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011680"/>
            <a:ext cx="5221224" cy="566928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53912" y="2011680"/>
            <a:ext cx="5349240" cy="56692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121408"/>
            <a:ext cx="4672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线程共享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19088" y="212140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线程私有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0976" y="2834640"/>
            <a:ext cx="4453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堆  Heap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50976" y="3355848"/>
            <a:ext cx="44256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对象实例与数组的逻辑分配区</a:t>
            </a:r>
            <a:endParaRPr lang="en-US" sz="1470" dirty="0"/>
          </a:p>
        </p:txBody>
      </p:sp>
      <p:sp>
        <p:nvSpPr>
          <p:cNvPr id="18" name="Text 16"/>
          <p:cNvSpPr/>
          <p:nvPr/>
        </p:nvSpPr>
        <p:spPr>
          <a:xfrm>
            <a:off x="950976" y="4041648"/>
            <a:ext cx="4453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方法区  Method Area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50976" y="4562856"/>
            <a:ext cx="44256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类结构、运行时常量池等</a:t>
            </a:r>
            <a:endParaRPr lang="en-US" sz="1470" dirty="0"/>
          </a:p>
        </p:txBody>
      </p:sp>
      <p:sp>
        <p:nvSpPr>
          <p:cNvPr id="20" name="Text 18"/>
          <p:cNvSpPr/>
          <p:nvPr/>
        </p:nvSpPr>
        <p:spPr>
          <a:xfrm>
            <a:off x="6446520" y="27614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7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 虚拟机栈</a:t>
            </a:r>
            <a:endParaRPr lang="en-US" sz="1770" dirty="0"/>
          </a:p>
        </p:txBody>
      </p:sp>
      <p:sp>
        <p:nvSpPr>
          <p:cNvPr id="21" name="Text 19"/>
          <p:cNvSpPr/>
          <p:nvPr/>
        </p:nvSpPr>
        <p:spPr>
          <a:xfrm>
            <a:off x="6446520" y="3154680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每次方法调用建立一个帧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6446520" y="36576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7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程序计数器  PC</a:t>
            </a:r>
            <a:endParaRPr lang="en-US" sz="1770" dirty="0"/>
          </a:p>
        </p:txBody>
      </p:sp>
      <p:sp>
        <p:nvSpPr>
          <p:cNvPr id="23" name="Text 21"/>
          <p:cNvSpPr/>
          <p:nvPr/>
        </p:nvSpPr>
        <p:spPr>
          <a:xfrm>
            <a:off x="6446520" y="4050792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保存线程当前执行位置</a:t>
            </a:r>
            <a:endParaRPr lang="en-US" sz="1370" dirty="0"/>
          </a:p>
        </p:txBody>
      </p:sp>
      <p:sp>
        <p:nvSpPr>
          <p:cNvPr id="24" name="Text 22"/>
          <p:cNvSpPr/>
          <p:nvPr/>
        </p:nvSpPr>
        <p:spPr>
          <a:xfrm>
            <a:off x="6446520" y="45537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7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本地方法栈</a:t>
            </a:r>
            <a:endParaRPr lang="en-US" sz="1770" dirty="0"/>
          </a:p>
        </p:txBody>
      </p:sp>
      <p:sp>
        <p:nvSpPr>
          <p:cNvPr id="25" name="Text 23"/>
          <p:cNvSpPr/>
          <p:nvPr/>
        </p:nvSpPr>
        <p:spPr>
          <a:xfrm>
            <a:off x="6446520" y="494690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供本地方法调用使用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777240" y="5961888"/>
            <a:ext cx="10579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方法帧包含局部变量表、操作数栈和动态链接等；对象回收交给 JVM 的 GC 机制。</a:t>
            </a:r>
            <a:endParaRPr lang="en-US" sz="14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03  /  Java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Java：自动回收对象，但回收时间不固定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参考：JVM Specification SE 26；Oracle JVM Guide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167128"/>
            <a:ext cx="261518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35915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new 创建对象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328416" y="267919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547872" y="2167128"/>
            <a:ext cx="261518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35915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30752" y="29718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引用保持可达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190488" y="267919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9944" y="2167128"/>
            <a:ext cx="261518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35915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92824" y="29718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对象不再可达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052560" y="267919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72016" y="2167128"/>
            <a:ext cx="2615184" cy="1508760"/>
          </a:xfrm>
          <a:prstGeom prst="rect">
            <a:avLst/>
          </a:prstGeom>
          <a:solidFill>
            <a:srgbClr val="EFF5FC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73184" y="235915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54896" y="29718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 在某时回收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04088" y="410565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4768" y="4105656"/>
            <a:ext cx="53218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370832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自动回收 ≠ 及时回收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41832" y="4919472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对象不可达后，GC 回收的时间不由程序保证。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6391656" y="4370832"/>
            <a:ext cx="4590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3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 ≠ 自动关闭一切资源</a:t>
            </a:r>
            <a:endParaRPr lang="en-US" sz="1830" dirty="0"/>
          </a:p>
        </p:txBody>
      </p:sp>
      <p:sp>
        <p:nvSpPr>
          <p:cNvPr id="30" name="Text 28"/>
          <p:cNvSpPr/>
          <p:nvPr/>
        </p:nvSpPr>
        <p:spPr>
          <a:xfrm>
            <a:off x="6400800" y="4919472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 / Socket 等外部资源需显式关闭。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768096" y="5925312"/>
            <a:ext cx="10671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JIT 逃逸分析可优化实际分配，因此不能把每次 new 都机械理解为一次物理堆分配。</a:t>
            </a:r>
            <a:endParaRPr lang="en-US" sz="13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03  /  对比总结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与 Java 存储管理：核心区别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6414516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1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参考：C Storage Duration；Java SE 26 JVM Specification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4088" y="1938528"/>
            <a:ext cx="10789920" cy="566928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4825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7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比较维度</a:t>
            </a:r>
            <a:endParaRPr lang="en-US" sz="1670" dirty="0"/>
          </a:p>
        </p:txBody>
      </p:sp>
      <p:sp>
        <p:nvSpPr>
          <p:cNvPr id="12" name="Text 10"/>
          <p:cNvSpPr/>
          <p:nvPr/>
        </p:nvSpPr>
        <p:spPr>
          <a:xfrm>
            <a:off x="3575304" y="20482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7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语言</a:t>
            </a:r>
            <a:endParaRPr lang="en-US" sz="1670" dirty="0"/>
          </a:p>
        </p:txBody>
      </p:sp>
      <p:sp>
        <p:nvSpPr>
          <p:cNvPr id="13" name="Text 11"/>
          <p:cNvSpPr/>
          <p:nvPr/>
        </p:nvSpPr>
        <p:spPr>
          <a:xfrm>
            <a:off x="7443216" y="2048256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70" b="1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Java（JVM）</a:t>
            </a:r>
            <a:endParaRPr lang="en-US" sz="1670" dirty="0"/>
          </a:p>
        </p:txBody>
      </p:sp>
      <p:sp>
        <p:nvSpPr>
          <p:cNvPr id="14" name="Shape 12"/>
          <p:cNvSpPr/>
          <p:nvPr/>
        </p:nvSpPr>
        <p:spPr>
          <a:xfrm>
            <a:off x="704088" y="2514600"/>
            <a:ext cx="10789920" cy="555955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06040"/>
            <a:ext cx="2459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动态分配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3575304" y="2606040"/>
            <a:ext cx="3593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malloc / calloc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7443216" y="260604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new（语言语义）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704088" y="3070555"/>
            <a:ext cx="10789920" cy="0"/>
          </a:xfrm>
          <a:prstGeom prst="line">
            <a:avLst/>
          </a:prstGeom>
          <a:noFill/>
          <a:ln w="6985">
            <a:solidFill>
              <a:srgbClr val="E0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3070555"/>
            <a:ext cx="10789920" cy="5559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161995"/>
            <a:ext cx="2459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对象回收</a:t>
            </a:r>
            <a:endParaRPr lang="en-US" sz="1460" dirty="0"/>
          </a:p>
        </p:txBody>
      </p:sp>
      <p:sp>
        <p:nvSpPr>
          <p:cNvPr id="21" name="Text 19"/>
          <p:cNvSpPr/>
          <p:nvPr/>
        </p:nvSpPr>
        <p:spPr>
          <a:xfrm>
            <a:off x="3575304" y="3161995"/>
            <a:ext cx="3593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free 显式释放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7443216" y="3161995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 自动回收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704088" y="3626510"/>
            <a:ext cx="10789920" cy="0"/>
          </a:xfrm>
          <a:prstGeom prst="line">
            <a:avLst/>
          </a:prstGeom>
          <a:noFill/>
          <a:ln w="6985">
            <a:solidFill>
              <a:srgbClr val="E0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3626510"/>
            <a:ext cx="10789920" cy="555955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717950"/>
            <a:ext cx="2459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局部变量</a:t>
            </a:r>
            <a:endParaRPr lang="en-US" sz="1460" dirty="0"/>
          </a:p>
        </p:txBody>
      </p:sp>
      <p:sp>
        <p:nvSpPr>
          <p:cNvPr id="26" name="Text 24"/>
          <p:cNvSpPr/>
          <p:nvPr/>
        </p:nvSpPr>
        <p:spPr>
          <a:xfrm>
            <a:off x="3575304" y="3717950"/>
            <a:ext cx="3593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自动存储期；常见栈帧实现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7443216" y="371795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方法帧的局部变量表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704088" y="4182466"/>
            <a:ext cx="10789920" cy="0"/>
          </a:xfrm>
          <a:prstGeom prst="line">
            <a:avLst/>
          </a:prstGeom>
          <a:noFill/>
          <a:ln w="6985">
            <a:solidFill>
              <a:srgbClr val="E0E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" y="4182466"/>
            <a:ext cx="10789920" cy="5559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273906"/>
            <a:ext cx="2459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内存访问</a:t>
            </a:r>
            <a:endParaRPr lang="en-US" sz="1460" dirty="0"/>
          </a:p>
        </p:txBody>
      </p:sp>
      <p:sp>
        <p:nvSpPr>
          <p:cNvPr id="31" name="Text 29"/>
          <p:cNvSpPr/>
          <p:nvPr/>
        </p:nvSpPr>
        <p:spPr>
          <a:xfrm>
            <a:off x="3575304" y="4273906"/>
            <a:ext cx="3593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可进行指针运算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7443216" y="4273906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受引用与边界检查约束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704088" y="4738421"/>
            <a:ext cx="10789920" cy="0"/>
          </a:xfrm>
          <a:prstGeom prst="line">
            <a:avLst/>
          </a:prstGeom>
          <a:noFill/>
          <a:ln w="6985">
            <a:solidFill>
              <a:srgbClr val="E0E6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" y="4738421"/>
            <a:ext cx="10789920" cy="555955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829861"/>
            <a:ext cx="2459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风险特点</a:t>
            </a:r>
            <a:endParaRPr lang="en-US" sz="1460" dirty="0"/>
          </a:p>
        </p:txBody>
      </p:sp>
      <p:sp>
        <p:nvSpPr>
          <p:cNvPr id="36" name="Text 34"/>
          <p:cNvSpPr/>
          <p:nvPr/>
        </p:nvSpPr>
        <p:spPr>
          <a:xfrm>
            <a:off x="3575304" y="4829861"/>
            <a:ext cx="3593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悬空指针 / 越界 / 重复释放</a:t>
            </a:r>
            <a:endParaRPr lang="en-US" sz="1440" dirty="0"/>
          </a:p>
        </p:txBody>
      </p:sp>
      <p:sp>
        <p:nvSpPr>
          <p:cNvPr id="37" name="Text 35"/>
          <p:cNvSpPr/>
          <p:nvPr/>
        </p:nvSpPr>
        <p:spPr>
          <a:xfrm>
            <a:off x="7443216" y="4829861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对象滞留 / OOM / 资源未关闭</a:t>
            </a:r>
            <a:endParaRPr lang="en-US" sz="1440" dirty="0"/>
          </a:p>
        </p:txBody>
      </p:sp>
      <p:sp>
        <p:nvSpPr>
          <p:cNvPr id="38" name="Shape 36"/>
          <p:cNvSpPr/>
          <p:nvPr/>
        </p:nvSpPr>
        <p:spPr>
          <a:xfrm>
            <a:off x="704088" y="5294376"/>
            <a:ext cx="10789920" cy="0"/>
          </a:xfrm>
          <a:prstGeom prst="line">
            <a:avLst/>
          </a:prstGeom>
          <a:noFill/>
          <a:ln w="6985">
            <a:solidFill>
              <a:srgbClr val="E0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4088" y="5294376"/>
            <a:ext cx="10789920" cy="5559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385816"/>
            <a:ext cx="2459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性能取舍</a:t>
            </a:r>
            <a:endParaRPr lang="en-US" sz="1460" dirty="0"/>
          </a:p>
        </p:txBody>
      </p:sp>
      <p:sp>
        <p:nvSpPr>
          <p:cNvPr id="41" name="Text 39"/>
          <p:cNvSpPr/>
          <p:nvPr/>
        </p:nvSpPr>
        <p:spPr>
          <a:xfrm>
            <a:off x="3575304" y="5385816"/>
            <a:ext cx="3593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控制细；无需强制 GC</a:t>
            </a:r>
            <a:endParaRPr lang="en-US" sz="1440" dirty="0"/>
          </a:p>
        </p:txBody>
      </p:sp>
      <p:sp>
        <p:nvSpPr>
          <p:cNvPr id="42" name="Text 40"/>
          <p:cNvSpPr/>
          <p:nvPr/>
        </p:nvSpPr>
        <p:spPr>
          <a:xfrm>
            <a:off x="7443216" y="5385816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便利性高；存在运行时管理成本</a:t>
            </a:r>
            <a:endParaRPr lang="en-US" sz="1440" dirty="0"/>
          </a:p>
        </p:txBody>
      </p:sp>
      <p:sp>
        <p:nvSpPr>
          <p:cNvPr id="43" name="Shape 41"/>
          <p:cNvSpPr/>
          <p:nvPr/>
        </p:nvSpPr>
        <p:spPr>
          <a:xfrm>
            <a:off x="704088" y="5850331"/>
            <a:ext cx="10789920" cy="0"/>
          </a:xfrm>
          <a:prstGeom prst="line">
            <a:avLst/>
          </a:prstGeom>
          <a:noFill/>
          <a:ln w="6985">
            <a:solidFill>
              <a:srgbClr val="E0E6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" y="6025896"/>
            <a:ext cx="10698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两者都涉及方法 / 函数调用帧和动态分配，但生命周期控制责任及内存安全约束存在显著差异。</a:t>
            </a:r>
            <a:endParaRPr lang="en-US" sz="13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CONCLUSION  /  核心结论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三个结论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7406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746504" y="1938528"/>
            <a:ext cx="9272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9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Display 解决非局部变量寻址</a:t>
            </a:r>
            <a:endParaRPr lang="en-US" sz="2090" dirty="0"/>
          </a:p>
        </p:txBody>
      </p:sp>
      <p:sp>
        <p:nvSpPr>
          <p:cNvPr id="11" name="Text 9"/>
          <p:cNvSpPr/>
          <p:nvPr/>
        </p:nvSpPr>
        <p:spPr>
          <a:xfrm>
            <a:off x="1746504" y="2478024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按词法层次直接索引活动记录，访问开销可达到 O(1)。</a:t>
            </a:r>
            <a:endParaRPr lang="en-US" sz="1570" dirty="0"/>
          </a:p>
        </p:txBody>
      </p:sp>
      <p:sp>
        <p:nvSpPr>
          <p:cNvPr id="12" name="Shape 10"/>
          <p:cNvSpPr/>
          <p:nvPr/>
        </p:nvSpPr>
        <p:spPr>
          <a:xfrm>
            <a:off x="1755648" y="3063240"/>
            <a:ext cx="9601200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00984"/>
            <a:ext cx="7406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746504" y="3227832"/>
            <a:ext cx="9272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9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现代实现需要查证</a:t>
            </a:r>
            <a:endParaRPr lang="en-US" sz="2090" dirty="0"/>
          </a:p>
        </p:txBody>
      </p:sp>
      <p:sp>
        <p:nvSpPr>
          <p:cNvPr id="15" name="Text 13"/>
          <p:cNvSpPr/>
          <p:nvPr/>
        </p:nvSpPr>
        <p:spPr>
          <a:xfrm>
            <a:off x="1746504" y="3767328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Turbo Pascal 3、Pascal-P6 有明确证据；主流编译器更常见静态链与闭包。</a:t>
            </a:r>
            <a:endParaRPr lang="en-US" sz="1570" dirty="0"/>
          </a:p>
        </p:txBody>
      </p:sp>
      <p:sp>
        <p:nvSpPr>
          <p:cNvPr id="16" name="Shape 14"/>
          <p:cNvSpPr/>
          <p:nvPr/>
        </p:nvSpPr>
        <p:spPr>
          <a:xfrm>
            <a:off x="1755648" y="4352544"/>
            <a:ext cx="9601200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90288"/>
            <a:ext cx="7406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46504" y="4517136"/>
            <a:ext cx="9272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9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与 Java 的回收责任不同</a:t>
            </a:r>
            <a:endParaRPr lang="en-US" sz="2090" dirty="0"/>
          </a:p>
        </p:txBody>
      </p:sp>
      <p:sp>
        <p:nvSpPr>
          <p:cNvPr id="19" name="Text 17"/>
          <p:cNvSpPr/>
          <p:nvPr/>
        </p:nvSpPr>
        <p:spPr>
          <a:xfrm>
            <a:off x="1746504" y="5056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允许显式分配与释放；Java 常规对象由 JVM 与垃圾回收器管理。</a:t>
            </a:r>
            <a:endParaRPr lang="en-US" sz="1570" dirty="0"/>
          </a:p>
        </p:txBody>
      </p:sp>
      <p:sp>
        <p:nvSpPr>
          <p:cNvPr id="20" name="Shape 18"/>
          <p:cNvSpPr/>
          <p:nvPr/>
        </p:nvSpPr>
        <p:spPr>
          <a:xfrm>
            <a:off x="731520" y="5952744"/>
            <a:ext cx="10735056" cy="265176"/>
          </a:xfrm>
          <a:prstGeom prst="rect">
            <a:avLst/>
          </a:prstGeom>
          <a:solidFill>
            <a:srgbClr val="EFF5FC"/>
          </a:solidFill>
          <a:ln w="12700">
            <a:solidFill>
              <a:srgbClr val="EF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957316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73F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关键词：活动记录 AR  ·  词法作用域  ·  静态链  ·  Display  ·  存储期  ·  GC</a:t>
            </a:r>
            <a:endParaRPr lang="en-US" sz="12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编译原理  /  运行时环境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366760" y="283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REFERENCES  /  资料来源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9376" cy="0"/>
          </a:xfrm>
          <a:prstGeom prst="line">
            <a:avLst/>
          </a:prstGeom>
          <a:noFill/>
          <a:ln w="1143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1268"/>
            <a:ext cx="59436" cy="4114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868680"/>
            <a:ext cx="1080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参考资料</a:t>
            </a:r>
            <a:endParaRPr lang="en-US" sz="2720" dirty="0"/>
          </a:p>
        </p:txBody>
      </p:sp>
      <p:sp>
        <p:nvSpPr>
          <p:cNvPr id="7" name="Shape 5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016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73968" y="63962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Display 原理（教学材料）</a:t>
            </a:r>
            <a:endParaRPr lang="en-US" sz="162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722376" y="22677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u="sng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University of Wisconsin CS536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722376" y="2697480"/>
            <a:ext cx="5138928" cy="0"/>
          </a:xfrm>
          <a:prstGeom prst="line">
            <a:avLst/>
          </a:prstGeom>
          <a:noFill/>
          <a:ln w="7620">
            <a:solidFill>
              <a:srgbClr val="E0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8712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Turbo Pascal 3 实现</a:t>
            </a:r>
            <a:endParaRPr lang="en-US" sz="162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722376" y="32644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u="sng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Turbo Pascal 3.0 Compiler Internals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722376" y="3694176"/>
            <a:ext cx="5138928" cy="0"/>
          </a:xfrm>
          <a:prstGeom prst="line">
            <a:avLst/>
          </a:prstGeom>
          <a:noFill/>
          <a:ln w="7620">
            <a:solidFill>
              <a:srgbClr val="E0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8679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Pascal-P6 的 Display</a:t>
            </a:r>
            <a:endParaRPr lang="en-US" sz="1620" dirty="0"/>
          </a:p>
        </p:txBody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722376" y="42611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u="sng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Pascal-P6 Manual §14.9.6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22376" y="4690872"/>
            <a:ext cx="5138928" cy="0"/>
          </a:xfrm>
          <a:prstGeom prst="line">
            <a:avLst/>
          </a:prstGeom>
          <a:noFill/>
          <a:ln w="7620">
            <a:solidFill>
              <a:srgbClr val="E0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4864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Free Pascal 嵌套过程</a:t>
            </a:r>
            <a:endParaRPr lang="en-US" sz="1620" dirty="0"/>
          </a:p>
        </p:txBody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722376" y="52578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u="sng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FPC Programmer’s Guide §6.4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722376" y="5687568"/>
            <a:ext cx="5138928" cy="0"/>
          </a:xfrm>
          <a:prstGeom prst="line">
            <a:avLst/>
          </a:prstGeom>
          <a:noFill/>
          <a:ln w="7620">
            <a:solidFill>
              <a:srgbClr val="E0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GCC 静态链</a:t>
            </a:r>
            <a:endParaRPr lang="en-US" sz="1620" dirty="0"/>
          </a:p>
        </p:txBody>
      </p:sp>
      <p:sp>
        <p:nvSpPr>
          <p:cNvPr id="22" name="Text 20">
            <a:hlinkClick r:id="rId5" tooltip=""/>
          </p:cNvPr>
          <p:cNvSpPr/>
          <p:nvPr/>
        </p:nvSpPr>
        <p:spPr>
          <a:xfrm>
            <a:off x="6318504" y="22677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u="sng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GCC Internals: Trampolines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6318504" y="2697480"/>
            <a:ext cx="5138928" cy="0"/>
          </a:xfrm>
          <a:prstGeom prst="line">
            <a:avLst/>
          </a:prstGeom>
          <a:noFill/>
          <a:ln w="7620">
            <a:solidFill>
              <a:srgbClr val="E0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28712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C# 捕获变量</a:t>
            </a:r>
            <a:endParaRPr lang="en-US" sz="1620" dirty="0"/>
          </a:p>
        </p:txBody>
      </p:sp>
      <p:sp>
        <p:nvSpPr>
          <p:cNvPr id="25" name="Text 23">
            <a:hlinkClick r:id="rId6" tooltip=""/>
          </p:cNvPr>
          <p:cNvSpPr/>
          <p:nvPr/>
        </p:nvSpPr>
        <p:spPr>
          <a:xfrm>
            <a:off x="6318504" y="32644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u="sng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.NET Blog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318504" y="3694176"/>
            <a:ext cx="5138928" cy="0"/>
          </a:xfrm>
          <a:prstGeom prst="line">
            <a:avLst/>
          </a:prstGeom>
          <a:noFill/>
          <a:ln w="7620">
            <a:solidFill>
              <a:srgbClr val="E0E6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38679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语言存储期</a:t>
            </a:r>
            <a:endParaRPr lang="en-US" sz="1620" dirty="0"/>
          </a:p>
        </p:txBody>
      </p:sp>
      <p:sp>
        <p:nvSpPr>
          <p:cNvPr id="28" name="Text 26">
            <a:hlinkClick r:id="rId7" tooltip=""/>
          </p:cNvPr>
          <p:cNvSpPr/>
          <p:nvPr/>
        </p:nvSpPr>
        <p:spPr>
          <a:xfrm>
            <a:off x="6318504" y="42611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u="sng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cppreference: Storage Duration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6318504" y="4690872"/>
            <a:ext cx="5138928" cy="0"/>
          </a:xfrm>
          <a:prstGeom prst="line">
            <a:avLst/>
          </a:prstGeom>
          <a:noFill/>
          <a:ln w="7620">
            <a:solidFill>
              <a:srgbClr val="E0E6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4864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D28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JVM 数据区</a:t>
            </a:r>
            <a:endParaRPr lang="en-US" sz="1620" dirty="0"/>
          </a:p>
        </p:txBody>
      </p:sp>
      <p:sp>
        <p:nvSpPr>
          <p:cNvPr id="31" name="Text 29">
            <a:hlinkClick r:id="rId8" tooltip=""/>
          </p:cNvPr>
          <p:cNvSpPr/>
          <p:nvPr/>
        </p:nvSpPr>
        <p:spPr>
          <a:xfrm>
            <a:off x="6318504" y="52578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u="sng" dirty="0">
                <a:solidFill>
                  <a:srgbClr val="235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 SE 26 JVM Specification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6318504" y="5687568"/>
            <a:ext cx="5138928" cy="0"/>
          </a:xfrm>
          <a:prstGeom prst="line">
            <a:avLst/>
          </a:prstGeom>
          <a:noFill/>
          <a:ln w="7620">
            <a:solidFill>
              <a:srgbClr val="E0E6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5961888"/>
            <a:ext cx="1061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6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提示：资料用于判断具体编译器的运行时机制，避免将“支持嵌套函数”等同于“采用经典 Display”。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Display 区与 C / Java 存储管理 · 白底简约版</dc:title>
  <dc:subject>编译原理：Display 区和 C/Java 存储管理</dc:subject>
  <dc:creator>OpenAI</dc:creator>
  <cp:lastModifiedBy>OpenAI</cp:lastModifiedBy>
  <cp:revision>1</cp:revision>
  <dcterms:created xsi:type="dcterms:W3CDTF">2026-10-11T08:42:40Z</dcterms:created>
  <dcterms:modified xsi:type="dcterms:W3CDTF">2026-10-11T08:42:40Z</dcterms:modified>
</cp:coreProperties>
</file>