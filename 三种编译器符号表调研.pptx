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77240" y="932688"/>
            <a:ext cx="6949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72033"/>
                </a:solidFill>
              </a:rPr>
              <a:t>编译器符号表调研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66420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6EF1"/>
                </a:solidFill>
              </a:rPr>
              <a:t>GCC · Clang/LLVM · javac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084832"/>
            <a:ext cx="6949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67A"/>
                </a:solidFill>
              </a:rPr>
              <a:t>内容：符号表保存什么、如何组织管理、示例程序如何进入符号表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858768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源程序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95728" y="4142232"/>
            <a:ext cx="850392" cy="0"/>
          </a:xfrm>
          <a:prstGeom prst="line">
            <a:avLst/>
          </a:prstGeom>
          <a:noFill/>
          <a:ln w="22860">
            <a:solidFill>
              <a:srgbClr val="276EF1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383280" y="3749040"/>
            <a:ext cx="1554480" cy="77724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词法/语法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47488" y="4142232"/>
            <a:ext cx="850392" cy="0"/>
          </a:xfrm>
          <a:prstGeom prst="line">
            <a:avLst/>
          </a:prstGeom>
          <a:noFill/>
          <a:ln w="22860">
            <a:solidFill>
              <a:srgbClr val="276EF1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080760" y="3566160"/>
            <a:ext cx="1554480" cy="1143000"/>
          </a:xfrm>
          <a:prstGeom prst="rect">
            <a:avLst/>
          </a:prstGeom>
          <a:solidFill>
            <a:srgbClr val="1A2A5A"/>
          </a:solidFill>
          <a:ln w="12700">
            <a:solidFill>
              <a:srgbClr val="1A2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符号表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0" y="4142232"/>
            <a:ext cx="850392" cy="0"/>
          </a:xfrm>
          <a:prstGeom prst="line">
            <a:avLst/>
          </a:prstGeom>
          <a:noFill/>
          <a:ln w="22860">
            <a:solidFill>
              <a:srgbClr val="276EF1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778240" y="3749040"/>
            <a:ext cx="2011680" cy="777240"/>
          </a:xfrm>
          <a:prstGeom prst="rect">
            <a:avLst/>
          </a:prstGeom>
          <a:solidFill>
            <a:srgbClr val="E8FAF7"/>
          </a:solidFill>
          <a:ln w="12700">
            <a:solidFill>
              <a:srgbClr val="E8FA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9D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语义检查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9D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与中间代码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5257800"/>
            <a:ext cx="3108960" cy="347472"/>
          </a:xfrm>
          <a:prstGeom prst="rect">
            <a:avLst/>
          </a:prstGeom>
          <a:solidFill>
            <a:srgbClr val="FFF4DF"/>
          </a:solidFill>
          <a:ln w="12700">
            <a:solidFill>
              <a:srgbClr val="FFF4D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名字 / 类型 / 作用域 / 存储 / 位置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C667A"/>
                </a:solidFill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256032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基本概念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符号表：编译器前端的“名字数据库”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060704"/>
            <a:ext cx="108813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17320"/>
            <a:ext cx="5029200" cy="16916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5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把程序中的名字映射到声明实体，例如变量、函数、类型、类、包、模块。
</a:t>
            </a:r>
            <a:r>
              <a:rPr lang="en-US" sz="150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5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记录语义分析所需属性，例如类型、作用域、存储类别、访问权限、源代码位置。
</a:t>
            </a:r>
            <a:r>
              <a:rPr lang="en-US" sz="150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5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支持声明检查、重定义检查、未声明检查、类型检查、代码生成前的信息查询。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1508760"/>
            <a:ext cx="868680" cy="65836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声明进入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7315200" y="1837944"/>
            <a:ext cx="64008" cy="0"/>
          </a:xfrm>
          <a:prstGeom prst="line">
            <a:avLst/>
          </a:prstGeom>
          <a:noFill/>
          <a:ln w="22860">
            <a:solidFill>
              <a:srgbClr val="5C667A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498080" y="1508760"/>
            <a:ext cx="868680" cy="658368"/>
          </a:xfrm>
          <a:prstGeom prst="rect">
            <a:avLst/>
          </a:prstGeom>
          <a:solidFill>
            <a:srgbClr val="E8FAF7"/>
          </a:solidFill>
          <a:ln w="12700">
            <a:solidFill>
              <a:srgbClr val="E8FA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F9D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作用域嵌套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412480" y="1837944"/>
            <a:ext cx="64008" cy="0"/>
          </a:xfrm>
          <a:prstGeom prst="line">
            <a:avLst/>
          </a:prstGeom>
          <a:noFill/>
          <a:ln w="22860">
            <a:solidFill>
              <a:srgbClr val="5C667A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595360" y="1508760"/>
            <a:ext cx="868680" cy="658368"/>
          </a:xfrm>
          <a:prstGeom prst="rect">
            <a:avLst/>
          </a:prstGeom>
          <a:solidFill>
            <a:srgbClr val="FFF4DF"/>
          </a:solidFill>
          <a:ln w="12700">
            <a:solidFill>
              <a:srgbClr val="FFF4D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名字查找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9509760" y="1837944"/>
            <a:ext cx="64008" cy="0"/>
          </a:xfrm>
          <a:prstGeom prst="line">
            <a:avLst/>
          </a:prstGeom>
          <a:noFill/>
          <a:ln w="22860">
            <a:solidFill>
              <a:srgbClr val="5C667A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692640" y="1508760"/>
            <a:ext cx="868680" cy="658368"/>
          </a:xfrm>
          <a:prstGeom prst="rect">
            <a:avLst/>
          </a:prstGeom>
          <a:solidFill>
            <a:srgbClr val="F3EAFE"/>
          </a:solidFill>
          <a:ln w="12700">
            <a:solidFill>
              <a:srgbClr val="F3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语义引用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6303645" y="2615565"/>
            <a:ext cx="4434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3685" y="3054477"/>
            <a:ext cx="1051560" cy="2468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C66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name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84973" y="3054477"/>
            <a:ext cx="2286000" cy="24688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sum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623685" y="3383661"/>
            <a:ext cx="1051560" cy="2468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C66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kind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84973" y="3383661"/>
            <a:ext cx="2286000" cy="246888"/>
          </a:xfrm>
          <a:prstGeom prst="rect">
            <a:avLst/>
          </a:prstGeom>
          <a:solidFill>
            <a:srgbClr val="E8FAF7"/>
          </a:solidFill>
          <a:ln w="12700">
            <a:solidFill>
              <a:srgbClr val="E8FA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9D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function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23685" y="3712845"/>
            <a:ext cx="1051560" cy="2468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C66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type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84973" y="3712845"/>
            <a:ext cx="2286000" cy="24688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int(int,int)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23685" y="4042029"/>
            <a:ext cx="1051560" cy="2468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C66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scope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84973" y="4042029"/>
            <a:ext cx="2286000" cy="24688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global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23685" y="4371213"/>
            <a:ext cx="1051560" cy="24688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C66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location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84973" y="4371213"/>
            <a:ext cx="2286000" cy="24688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line 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2960" y="5669280"/>
            <a:ext cx="7223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核心问题：同名时，先查当前作用域；找不到再沿外层作用域向上查。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C667A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256032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三种真实编译器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调研对象与总体结论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060704"/>
            <a:ext cx="108813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417320"/>
            <a:ext cx="1143000" cy="384048"/>
          </a:xfrm>
          <a:prstGeom prst="rect">
            <a:avLst/>
          </a:prstGeom>
          <a:solidFill>
            <a:srgbClr val="1A2A5A"/>
          </a:solidFill>
          <a:ln w="12700">
            <a:solidFill>
              <a:srgbClr val="1A2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编译器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856232" y="1417320"/>
            <a:ext cx="1417320" cy="384048"/>
          </a:xfrm>
          <a:prstGeom prst="rect">
            <a:avLst/>
          </a:prstGeom>
          <a:solidFill>
            <a:srgbClr val="1A2A5A"/>
          </a:solidFill>
          <a:ln w="12700">
            <a:solidFill>
              <a:srgbClr val="1A2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主要语言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328416" y="1417320"/>
            <a:ext cx="2834640" cy="384048"/>
          </a:xfrm>
          <a:prstGeom prst="rect">
            <a:avLst/>
          </a:prstGeom>
          <a:solidFill>
            <a:srgbClr val="1A2A5A"/>
          </a:solidFill>
          <a:ln w="12700">
            <a:solidFill>
              <a:srgbClr val="1A2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符号表核心抽象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17920" y="1417320"/>
            <a:ext cx="4800600" cy="384048"/>
          </a:xfrm>
          <a:prstGeom prst="rect">
            <a:avLst/>
          </a:prstGeom>
          <a:solidFill>
            <a:srgbClr val="1A2A5A"/>
          </a:solidFill>
          <a:ln w="12700">
            <a:solidFill>
              <a:srgbClr val="1A2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管理特点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8368" y="1920240"/>
            <a:ext cx="1143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GCC</a:t>
            </a:r>
            <a:endParaRPr lang="en-US" sz="1070" dirty="0"/>
          </a:p>
        </p:txBody>
      </p:sp>
      <p:sp>
        <p:nvSpPr>
          <p:cNvPr id="11" name="Text 9"/>
          <p:cNvSpPr/>
          <p:nvPr/>
        </p:nvSpPr>
        <p:spPr>
          <a:xfrm>
            <a:off x="1856232" y="1920240"/>
            <a:ext cx="1417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C/C++ 等</a:t>
            </a:r>
            <a:endParaRPr lang="en-US" sz="1070" dirty="0"/>
          </a:p>
        </p:txBody>
      </p:sp>
      <p:sp>
        <p:nvSpPr>
          <p:cNvPr id="12" name="Text 10"/>
          <p:cNvSpPr/>
          <p:nvPr/>
        </p:nvSpPr>
        <p:spPr>
          <a:xfrm>
            <a:off x="3328416" y="1920240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tree / *_DECL / IDENTIFIER_NODE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6217920" y="1920240"/>
            <a:ext cx="4800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声明节点携带类型、位置、存储属性；上下文形成命名层次</a:t>
            </a:r>
            <a:endParaRPr lang="en-US" sz="1010" dirty="0"/>
          </a:p>
        </p:txBody>
      </p:sp>
      <p:sp>
        <p:nvSpPr>
          <p:cNvPr id="14" name="Text 12"/>
          <p:cNvSpPr/>
          <p:nvPr/>
        </p:nvSpPr>
        <p:spPr>
          <a:xfrm>
            <a:off x="658368" y="2706624"/>
            <a:ext cx="1143000" cy="658368"/>
          </a:xfrm>
          <a:prstGeom prst="rect">
            <a:avLst/>
          </a:prstGeom>
          <a:solidFill>
            <a:srgbClr val="F2F6FB"/>
          </a:solidFill>
          <a:ln w="12700">
            <a:solidFill>
              <a:srgbClr val="D9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F9D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Clang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1856232" y="2706624"/>
            <a:ext cx="1417320" cy="658368"/>
          </a:xfrm>
          <a:prstGeom prst="rect">
            <a:avLst/>
          </a:prstGeom>
          <a:solidFill>
            <a:srgbClr val="F2F6FB"/>
          </a:solidFill>
          <a:ln w="12700">
            <a:solidFill>
              <a:srgbClr val="D9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C/C++/ObjC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3328416" y="2706624"/>
            <a:ext cx="2834640" cy="658368"/>
          </a:xfrm>
          <a:prstGeom prst="rect">
            <a:avLst/>
          </a:prstGeom>
          <a:solidFill>
            <a:srgbClr val="F2F6FB"/>
          </a:solidFill>
          <a:ln w="12700">
            <a:solidFill>
              <a:srgbClr val="D9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Decl / DeclContext / ASTContext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6217920" y="2706624"/>
            <a:ext cx="4800600" cy="658368"/>
          </a:xfrm>
          <a:prstGeom prst="rect">
            <a:avLst/>
          </a:prstGeom>
          <a:solidFill>
            <a:srgbClr val="F2F6FB"/>
          </a:solidFill>
          <a:ln w="12700">
            <a:solidFill>
              <a:srgbClr val="D9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语法树节点即语义实体；IdentifierTable 管名字，DeclContext 管作用域</a:t>
            </a:r>
            <a:endParaRPr lang="en-US" sz="1010" dirty="0"/>
          </a:p>
        </p:txBody>
      </p:sp>
      <p:sp>
        <p:nvSpPr>
          <p:cNvPr id="18" name="Text 16"/>
          <p:cNvSpPr/>
          <p:nvPr/>
        </p:nvSpPr>
        <p:spPr>
          <a:xfrm>
            <a:off x="658368" y="3493008"/>
            <a:ext cx="1143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javac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1856232" y="3493008"/>
            <a:ext cx="1417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Java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3328416" y="3493008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Symbol / Scope / Symtab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6217920" y="3493008"/>
            <a:ext cx="4800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模块、包、类、方法、变量均为 Symbol；Scope 链完成查找</a:t>
            </a:r>
            <a:endParaRPr lang="en-US" sz="1010" dirty="0"/>
          </a:p>
        </p:txBody>
      </p:sp>
      <p:sp>
        <p:nvSpPr>
          <p:cNvPr id="22" name="Text 20"/>
          <p:cNvSpPr/>
          <p:nvPr/>
        </p:nvSpPr>
        <p:spPr>
          <a:xfrm>
            <a:off x="822960" y="4754880"/>
            <a:ext cx="3337560" cy="292608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6EF1"/>
                </a:solidFill>
              </a:rPr>
              <a:t>共同点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102352"/>
            <a:ext cx="3337560" cy="566928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</a:rPr>
              <a:t>都不是单独一张“平面表”，而是和 AST、作用域、类型系统、模块/命名空间结合在一起。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434840" y="4754880"/>
            <a:ext cx="3337560" cy="292608"/>
          </a:xfrm>
          <a:prstGeom prst="rect">
            <a:avLst/>
          </a:prstGeom>
          <a:solidFill>
            <a:srgbClr val="E8FAF7"/>
          </a:solidFill>
          <a:ln>
            <a:solidFill>
              <a:srgbClr val="E8FAF7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9D8A"/>
                </a:solidFill>
              </a:rPr>
              <a:t>差异点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34840" y="5102352"/>
            <a:ext cx="3337560" cy="566928"/>
          </a:xfrm>
          <a:prstGeom prst="rect">
            <a:avLst/>
          </a:prstGeom>
          <a:solidFill>
            <a:srgbClr val="E8FAF7"/>
          </a:solidFill>
          <a:ln>
            <a:solidFill>
              <a:srgbClr val="E8FA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</a:rPr>
              <a:t>C/C++ 需要处理宏、重载、模板、命名空间；Java 更强调包、类、成员与模块路径。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0" y="4754880"/>
            <a:ext cx="3337560" cy="292608"/>
          </a:xfrm>
          <a:prstGeom prst="rect">
            <a:avLst/>
          </a:prstGeom>
          <a:solidFill>
            <a:srgbClr val="FFF4DF"/>
          </a:solidFill>
          <a:ln>
            <a:solidFill>
              <a:srgbClr val="FFF4DF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作业结论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0" y="5102352"/>
            <a:ext cx="3337560" cy="566928"/>
          </a:xfrm>
          <a:prstGeom prst="rect">
            <a:avLst/>
          </a:prstGeom>
          <a:solidFill>
            <a:srgbClr val="FFF4DF"/>
          </a:solidFill>
          <a:ln>
            <a:solidFill>
              <a:srgbClr val="FFF4D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</a:rPr>
              <a:t>写小型编译器时，可用“作用域栈 + 哈希表 + 符号项”模拟真实编译器的核心思想。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C667A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256032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展示用代码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示例程序：符号如何被收集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060704"/>
            <a:ext cx="108813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25880"/>
            <a:ext cx="5303520" cy="4251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// C/C++ 示例：GCC 与 Clang 都会建立类似语义信息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int g = 10;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int add(int a, int b) 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int t = a + b;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return 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}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int main() 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int g = 3;        // 局部变量遮蔽全局 g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return add(g, 4);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}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263640" y="1325880"/>
            <a:ext cx="5257800" cy="4251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// Java 示例：javac 会建立包、类、方法、字段、局部变量符号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package demo;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class Demo 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static int g = 10;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static int add(int a, int b) {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int t = a + b;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    return t;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}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}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1097280" y="5806440"/>
            <a:ext cx="9966960" cy="411480"/>
          </a:xfrm>
          <a:prstGeom prst="rect">
            <a:avLst/>
          </a:prstGeom>
          <a:solidFill>
            <a:srgbClr val="F3EAFE"/>
          </a:solidFill>
          <a:ln w="12700">
            <a:solidFill>
              <a:srgbClr val="F3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关键现象：两个 g 分属不同作用域；函数/方法 add 有参数符号 a、b 与局部变量 t。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C667A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256032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编译器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GCC：声明节点本身就是符号信息载体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060704"/>
            <a:ext cx="108813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1508760" cy="47548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GCC 前端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68880" y="1664208"/>
            <a:ext cx="777240" cy="0"/>
          </a:xfrm>
          <a:prstGeom prst="line">
            <a:avLst/>
          </a:prstGeom>
          <a:noFill/>
          <a:ln w="22860">
            <a:solidFill>
              <a:srgbClr val="276EF1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429000" y="1298448"/>
            <a:ext cx="1508760" cy="713232"/>
          </a:xfrm>
          <a:prstGeom prst="rect">
            <a:avLst/>
          </a:prstGeom>
          <a:solidFill>
            <a:srgbClr val="1A2A5A"/>
          </a:solidFill>
          <a:ln w="12700">
            <a:solidFill>
              <a:srgbClr val="1A2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tree 节点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74920" y="1664208"/>
            <a:ext cx="822960" cy="0"/>
          </a:xfrm>
          <a:prstGeom prst="line">
            <a:avLst/>
          </a:prstGeom>
          <a:noFill/>
          <a:ln w="22860">
            <a:solidFill>
              <a:srgbClr val="276EF1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080760" y="1298448"/>
            <a:ext cx="1508760" cy="713232"/>
          </a:xfrm>
          <a:prstGeom prst="rect">
            <a:avLst/>
          </a:prstGeom>
          <a:solidFill>
            <a:srgbClr val="FFF4DF"/>
          </a:solidFill>
          <a:ln w="12700">
            <a:solidFill>
              <a:srgbClr val="FFF4D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*_DECL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26680" y="1664208"/>
            <a:ext cx="822960" cy="0"/>
          </a:xfrm>
          <a:prstGeom prst="line">
            <a:avLst/>
          </a:prstGeom>
          <a:noFill/>
          <a:ln w="22860">
            <a:solidFill>
              <a:srgbClr val="276EF1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732520" y="1417320"/>
            <a:ext cx="1783080" cy="475488"/>
          </a:xfrm>
          <a:prstGeom prst="rect">
            <a:avLst/>
          </a:prstGeom>
          <a:solidFill>
            <a:srgbClr val="E8FAF7"/>
          </a:solidFill>
          <a:ln w="12700">
            <a:solidFill>
              <a:srgbClr val="E8FA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9D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语义/优化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24231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典型内容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2788920"/>
            <a:ext cx="5303520" cy="210312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2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DECL_NAME：声明名，指向 IDENTIFIER_NODE
</a:t>
            </a:r>
            <a:r>
              <a:rPr lang="en-US" sz="125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2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TREE_TYPE：声明对象的类型
</a:t>
            </a:r>
            <a:r>
              <a:rPr lang="en-US" sz="125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2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EXPR_FILENAME / EXPR_LINENO：源文件与行号
</a:t>
            </a:r>
            <a:r>
              <a:rPr lang="en-US" sz="125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2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DECL_INITIAL：变量或常量的初始化信息
</a:t>
            </a:r>
            <a:r>
              <a:rPr lang="en-US" sz="125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2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DECL_SIZE / DECL_ALIGN：对象大小与对齐
</a:t>
            </a:r>
            <a:r>
              <a:rPr lang="en-US" sz="125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2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DECL_CONTEXT：命名空间、函数、类等外层上下文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0" y="24231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示例对应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2816352"/>
            <a:ext cx="1508760" cy="310896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VAR_DECL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65008" y="2816352"/>
            <a:ext cx="2743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 : int, global, init=10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3246120"/>
            <a:ext cx="1508760" cy="310896"/>
          </a:xfrm>
          <a:prstGeom prst="rect">
            <a:avLst/>
          </a:prstGeom>
          <a:solidFill>
            <a:srgbClr val="FFF4DF"/>
          </a:solidFill>
          <a:ln w="12700">
            <a:solidFill>
              <a:srgbClr val="FFF4D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FUNCTION_DECL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65008" y="3246120"/>
            <a:ext cx="2743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add : int(int,int)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3675888"/>
            <a:ext cx="1508760" cy="310896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PARM_DECL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65008" y="3675888"/>
            <a:ext cx="2743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: int, b : int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4105656"/>
            <a:ext cx="1508760" cy="310896"/>
          </a:xfrm>
          <a:prstGeom prst="rect">
            <a:avLst/>
          </a:prstGeom>
          <a:solidFill>
            <a:srgbClr val="FFF4DF"/>
          </a:solidFill>
          <a:ln w="12700">
            <a:solidFill>
              <a:srgbClr val="FFF4D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VAR_DECL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65008" y="4105656"/>
            <a:ext cx="2743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 : int, local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4535424"/>
            <a:ext cx="1508760" cy="310896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FUNCTION_DECL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65008" y="4535424"/>
            <a:ext cx="2743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main : int()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" y="5623560"/>
            <a:ext cx="9966960" cy="41148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组织管理：声明节点按作用域/上下文挂接；名字查找时从当前上下文向外层查找。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C667A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256032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编译器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Clang：DeclContext 组织作用域，ASTContext 管长期对象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060704"/>
            <a:ext cx="108813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417320"/>
            <a:ext cx="1920240" cy="566928"/>
          </a:xfrm>
          <a:prstGeom prst="rect">
            <a:avLst/>
          </a:prstGeom>
          <a:solidFill>
            <a:srgbClr val="1A2A5A"/>
          </a:solidFill>
          <a:ln w="12700">
            <a:solidFill>
              <a:srgbClr val="1A2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ASTContext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26080" y="1700784"/>
            <a:ext cx="804672" cy="0"/>
          </a:xfrm>
          <a:prstGeom prst="line">
            <a:avLst/>
          </a:prstGeom>
          <a:noFill/>
          <a:ln w="22860">
            <a:solidFill>
              <a:srgbClr val="276EF1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931920" y="1234440"/>
            <a:ext cx="1828800" cy="8229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IdentifierTable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名字池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2395728"/>
            <a:ext cx="1828800" cy="822960"/>
          </a:xfrm>
          <a:prstGeom prst="rect">
            <a:avLst/>
          </a:prstGeom>
          <a:solidFill>
            <a:srgbClr val="E8FAF7"/>
          </a:solidFill>
          <a:ln w="12700">
            <a:solidFill>
              <a:srgbClr val="E8FA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9D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DeclarationNameTable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9D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声明名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3566160"/>
            <a:ext cx="1828800" cy="822960"/>
          </a:xfrm>
          <a:prstGeom prst="rect">
            <a:avLst/>
          </a:prstGeom>
          <a:solidFill>
            <a:srgbClr val="FFF4DF"/>
          </a:solidFill>
          <a:ln w="12700">
            <a:solidFill>
              <a:srgbClr val="FFF4D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Decl / Type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语义节点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97880" y="3977640"/>
            <a:ext cx="822960" cy="0"/>
          </a:xfrm>
          <a:prstGeom prst="line">
            <a:avLst/>
          </a:prstGeom>
          <a:noFill/>
          <a:ln w="22860">
            <a:solidFill>
              <a:srgbClr val="276EF1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903720" y="3566160"/>
            <a:ext cx="1920240" cy="822960"/>
          </a:xfrm>
          <a:prstGeom prst="rect">
            <a:avLst/>
          </a:prstGeom>
          <a:solidFill>
            <a:srgbClr val="F3EAFE"/>
          </a:solidFill>
          <a:ln w="12700">
            <a:solidFill>
              <a:srgbClr val="F3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DeclContext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作用域容器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0" y="3977640"/>
            <a:ext cx="868680" cy="0"/>
          </a:xfrm>
          <a:prstGeom prst="line">
            <a:avLst/>
          </a:prstGeom>
          <a:noFill/>
          <a:ln w="22860">
            <a:solidFill>
              <a:srgbClr val="276EF1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012680" y="3566160"/>
            <a:ext cx="1417320" cy="822960"/>
          </a:xfrm>
          <a:prstGeom prst="rect">
            <a:avLst/>
          </a:prstGeom>
          <a:solidFill>
            <a:srgbClr val="EDFAEF"/>
          </a:solidFill>
          <a:ln w="12700">
            <a:solidFill>
              <a:srgbClr val="EDFA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Sema 查询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类型检查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3957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符号项内容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96112" y="2779776"/>
            <a:ext cx="2560320" cy="214884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4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14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NamedDecl：具有名字的声明
</a:t>
            </a:r>
            <a:r>
              <a:rPr lang="en-US" sz="114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14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VarDecl / FunctionDecl / ParmVarDecl / RecordDecl
</a:t>
            </a:r>
            <a:r>
              <a:rPr lang="en-US" sz="114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14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QualType：带限定符的类型信息
</a:t>
            </a:r>
            <a:r>
              <a:rPr lang="en-US" sz="114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14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SourceLocation：声明位置
</a:t>
            </a:r>
            <a:r>
              <a:rPr lang="en-US" sz="114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14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StorageClass / Linkage / Access：存储与可见性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6903720" y="123444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示例查找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03720" y="1664208"/>
            <a:ext cx="2148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main() CompoundStmt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32320" y="2176272"/>
            <a:ext cx="1691640" cy="320040"/>
          </a:xfrm>
          <a:prstGeom prst="rect">
            <a:avLst/>
          </a:prstGeom>
          <a:solidFill>
            <a:srgbClr val="F3EAFE"/>
          </a:solidFill>
          <a:ln w="12700">
            <a:solidFill>
              <a:srgbClr val="F3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 VarDecl 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98280" y="2331720"/>
            <a:ext cx="758952" cy="0"/>
          </a:xfrm>
          <a:prstGeom prst="line">
            <a:avLst/>
          </a:prstGeom>
          <a:noFill/>
          <a:ln w="22860">
            <a:solidFill>
              <a:srgbClr val="5C667A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966960" y="2167128"/>
            <a:ext cx="1207008" cy="329184"/>
          </a:xfrm>
          <a:prstGeom prst="rect">
            <a:avLst/>
          </a:prstGeom>
          <a:solidFill>
            <a:srgbClr val="FFF0F3"/>
          </a:solidFill>
          <a:ln w="12700">
            <a:solidFill>
              <a:srgbClr val="FFF0F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11D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遮蔽全局 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03720" y="2724912"/>
            <a:ext cx="2148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TranslationUnitDecl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32320" y="3200400"/>
            <a:ext cx="1691640" cy="32004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全局 VarDecl 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5623560"/>
            <a:ext cx="10149840" cy="41148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组织管理：ASTContext 统一保存长期对象；DeclContext 表达翻译单元、命名空间、类、函数等声明上下文。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C667A"/>
                </a:solidFill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256032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编译器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javac：Symbol + Scope + Symtab 形成 Java 符号系统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060704"/>
            <a:ext cx="108813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1645920" cy="804672"/>
          </a:xfrm>
          <a:prstGeom prst="rect">
            <a:avLst/>
          </a:prstGeom>
          <a:solidFill>
            <a:srgbClr val="1A2A5A"/>
          </a:solidFill>
          <a:ln w="12700">
            <a:solidFill>
              <a:srgbClr val="1A2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Symtab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全局符号表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615184" y="1810512"/>
            <a:ext cx="786384" cy="0"/>
          </a:xfrm>
          <a:prstGeom prst="line">
            <a:avLst/>
          </a:prstGeom>
          <a:noFill/>
          <a:ln w="22860">
            <a:solidFill>
              <a:srgbClr val="276EF1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584448" y="1298448"/>
            <a:ext cx="1508760" cy="621792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PackageSymbol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84448" y="2057400"/>
            <a:ext cx="1508760" cy="621792"/>
          </a:xfrm>
          <a:prstGeom prst="rect">
            <a:avLst/>
          </a:prstGeom>
          <a:solidFill>
            <a:srgbClr val="E8FAF7"/>
          </a:solidFill>
          <a:ln w="12700">
            <a:solidFill>
              <a:srgbClr val="E8FA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9D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ModuleSymbol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9D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57800" y="1627632"/>
            <a:ext cx="685800" cy="0"/>
          </a:xfrm>
          <a:prstGeom prst="line">
            <a:avLst/>
          </a:prstGeom>
          <a:noFill/>
          <a:ln w="22860">
            <a:solidFill>
              <a:srgbClr val="276EF1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144768" y="1298448"/>
            <a:ext cx="1508760" cy="621792"/>
          </a:xfrm>
          <a:prstGeom prst="rect">
            <a:avLst/>
          </a:prstGeom>
          <a:solidFill>
            <a:srgbClr val="FFF4DF"/>
          </a:solidFill>
          <a:ln w="12700">
            <a:solidFill>
              <a:srgbClr val="FFF4D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ClassSymbol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18120" y="1627632"/>
            <a:ext cx="685800" cy="0"/>
          </a:xfrm>
          <a:prstGeom prst="line">
            <a:avLst/>
          </a:prstGeom>
          <a:noFill/>
          <a:ln w="22860">
            <a:solidFill>
              <a:srgbClr val="276EF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705088" y="1298448"/>
            <a:ext cx="1508760" cy="621792"/>
          </a:xfrm>
          <a:prstGeom prst="rect">
            <a:avLst/>
          </a:prstGeom>
          <a:solidFill>
            <a:srgbClr val="F3EAFE"/>
          </a:solidFill>
          <a:ln w="12700">
            <a:solidFill>
              <a:srgbClr val="F3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MethodSymbol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05088" y="2057400"/>
            <a:ext cx="1508760" cy="621792"/>
          </a:xfrm>
          <a:prstGeom prst="rect">
            <a:avLst/>
          </a:prstGeom>
          <a:solidFill>
            <a:srgbClr val="EDFAEF"/>
          </a:solidFill>
          <a:ln w="12700">
            <a:solidFill>
              <a:srgbClr val="EDFA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CAF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VarSymbol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4CAF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字段/局部变量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68680" y="285292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符号项内容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96112" y="3246120"/>
            <a:ext cx="4663440" cy="2011680"/>
          </a:xfrm>
          <a:prstGeom prst="rect">
            <a:avLst/>
          </a:prstGeom>
          <a:noFill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2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name：名字，例如 Demo、add、g、t
</a:t>
            </a:r>
            <a:r>
              <a:rPr lang="en-US" sz="125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2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kind：包、类、方法、变量等类别
</a:t>
            </a:r>
            <a:r>
              <a:rPr lang="en-US" sz="125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2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type：Java 类型或方法签名
</a:t>
            </a:r>
            <a:r>
              <a:rPr lang="en-US" sz="125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2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owner：所属符号，例如方法属于类，局部变量属于方法
</a:t>
            </a:r>
            <a:r>
              <a:rPr lang="en-US" sz="125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2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flags：static、public、private 等修饰信息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17920" y="28529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Java 示例符号树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3246120"/>
            <a:ext cx="1920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PackageSymbol demo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0" y="3703320"/>
            <a:ext cx="1920240" cy="347472"/>
          </a:xfrm>
          <a:prstGeom prst="rect">
            <a:avLst/>
          </a:prstGeom>
          <a:solidFill>
            <a:srgbClr val="FFF4DF"/>
          </a:solidFill>
          <a:ln w="12700">
            <a:solidFill>
              <a:srgbClr val="FFF4D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ClassSymbol Demo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903720" y="4160520"/>
            <a:ext cx="1463040" cy="310896"/>
          </a:xfrm>
          <a:prstGeom prst="rect">
            <a:avLst/>
          </a:prstGeom>
          <a:solidFill>
            <a:srgbClr val="EDFAEF"/>
          </a:solidFill>
          <a:ln w="12700">
            <a:solidFill>
              <a:srgbClr val="EDFA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CAF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VarSymbol 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03720" y="4544568"/>
            <a:ext cx="1783080" cy="310896"/>
          </a:xfrm>
          <a:prstGeom prst="rect">
            <a:avLst/>
          </a:prstGeom>
          <a:solidFill>
            <a:srgbClr val="F3EAFE"/>
          </a:solidFill>
          <a:ln w="12700">
            <a:solidFill>
              <a:srgbClr val="F3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MethodSymbol add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23760" y="4919472"/>
            <a:ext cx="1691640" cy="310896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VarSymbol a / b / 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5623560"/>
            <a:ext cx="10149840" cy="41148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组织管理：Enter 阶段先收集类/成员；Attr 阶段做类型归属；Scope 用链式作用域完成查找。</a:t>
            </a:r>
            <a:endParaRPr lang="en-US" sz="1270" dirty="0"/>
          </a:p>
        </p:txBody>
      </p:sp>
      <p:sp>
        <p:nvSpPr>
          <p:cNvPr id="24" name="Text 22"/>
          <p:cNvSpPr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C667A"/>
                </a:solidFill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256032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从代码到作用域栈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示例程序的符号表组织过程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060704"/>
            <a:ext cx="108813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280160"/>
            <a:ext cx="3291840" cy="4343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int g = 10;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int add(int a, int b)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int t = a + b;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return 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int main()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int g = 3;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return add(g, 4);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17720" y="12344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作用域栈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63440" y="1645920"/>
            <a:ext cx="2286000" cy="713232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Global Scope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符号：g, add, main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06440" y="2487168"/>
            <a:ext cx="0" cy="576072"/>
          </a:xfrm>
          <a:prstGeom prst="line">
            <a:avLst/>
          </a:prstGeom>
          <a:noFill/>
          <a:ln w="22860">
            <a:solidFill>
              <a:srgbClr val="5C667A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663440" y="3200400"/>
            <a:ext cx="2286000" cy="713232"/>
          </a:xfrm>
          <a:prstGeom prst="rect">
            <a:avLst/>
          </a:prstGeom>
          <a:solidFill>
            <a:srgbClr val="E8FAF7"/>
          </a:solidFill>
          <a:ln w="12700">
            <a:solidFill>
              <a:srgbClr val="E8FA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9D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Function Scope: add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9D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符号：a, b, 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14032" y="3557016"/>
            <a:ext cx="768096" cy="0"/>
          </a:xfrm>
          <a:prstGeom prst="line">
            <a:avLst/>
          </a:prstGeom>
          <a:noFill/>
          <a:ln w="22860">
            <a:solidFill>
              <a:srgbClr val="5C667A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065008" y="3154680"/>
            <a:ext cx="2697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查找 t：当前 add 中命中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查找 a/b：当前 add 中命中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4617720"/>
            <a:ext cx="2286000" cy="713232"/>
          </a:xfrm>
          <a:prstGeom prst="rect">
            <a:avLst/>
          </a:prstGeom>
          <a:solidFill>
            <a:srgbClr val="FFF4DF"/>
          </a:solidFill>
          <a:ln w="12700">
            <a:solidFill>
              <a:srgbClr val="FFF4D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Function Scope: main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符号：g(局部)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14032" y="4974336"/>
            <a:ext cx="768096" cy="0"/>
          </a:xfrm>
          <a:prstGeom prst="line">
            <a:avLst/>
          </a:prstGeom>
          <a:noFill/>
          <a:ln w="22860">
            <a:solidFill>
              <a:srgbClr val="5C667A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065008" y="4590288"/>
            <a:ext cx="2697480" cy="713232"/>
          </a:xfrm>
          <a:prstGeom prst="rect">
            <a:avLst/>
          </a:prstGeom>
          <a:solidFill>
            <a:srgbClr val="FFF0F3"/>
          </a:solidFill>
          <a:ln w="12700">
            <a:solidFill>
              <a:srgbClr val="FFF0F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E11D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查找 g：先命中局部 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11D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不会直接使用全局 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5961888"/>
            <a:ext cx="1005840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管理规则：进入函数/块时压入新作用域；离开时弹出；每层内部通常用哈希表加速名字查找。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C667A"/>
                </a:solidFill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256032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横向总结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三种符号表组织方式对比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060704"/>
            <a:ext cx="108813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1880" y="1280160"/>
            <a:ext cx="2331720" cy="41148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GCC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46520" y="1280160"/>
            <a:ext cx="2331720" cy="411480"/>
          </a:xfrm>
          <a:prstGeom prst="rect">
            <a:avLst/>
          </a:prstGeom>
          <a:solidFill>
            <a:srgbClr val="E8FAF7"/>
          </a:solidFill>
          <a:ln w="12700">
            <a:solidFill>
              <a:srgbClr val="E8FA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9D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Clang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81160" y="1280160"/>
            <a:ext cx="2331720" cy="411480"/>
          </a:xfrm>
          <a:prstGeom prst="rect">
            <a:avLst/>
          </a:prstGeom>
          <a:solidFill>
            <a:srgbClr val="FFF4DF"/>
          </a:solidFill>
          <a:ln w="12700">
            <a:solidFill>
              <a:srgbClr val="FFF4D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javac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2103120" cy="502920"/>
          </a:xfrm>
          <a:prstGeom prst="rect">
            <a:avLst/>
          </a:prstGeom>
          <a:solidFill>
            <a:srgbClr val="1A2A5A"/>
          </a:solidFill>
          <a:ln w="12700">
            <a:solidFill>
              <a:srgbClr val="1A2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核心对象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11880" y="1920240"/>
            <a:ext cx="2331720" cy="502920"/>
          </a:xfrm>
          <a:prstGeom prst="rect">
            <a:avLst/>
          </a:prstGeom>
          <a:solidFill>
            <a:srgbClr val="F2F6FB"/>
          </a:solidFill>
          <a:ln w="12700">
            <a:solidFill>
              <a:srgbClr val="D9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tree / *_DECL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46520" y="1920240"/>
            <a:ext cx="2331720" cy="502920"/>
          </a:xfrm>
          <a:prstGeom prst="rect">
            <a:avLst/>
          </a:prstGeom>
          <a:solidFill>
            <a:srgbClr val="F2F6FB"/>
          </a:solidFill>
          <a:ln w="12700">
            <a:solidFill>
              <a:srgbClr val="D9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Decl / DeclContext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281160" y="1920240"/>
            <a:ext cx="2331720" cy="502920"/>
          </a:xfrm>
          <a:prstGeom prst="rect">
            <a:avLst/>
          </a:prstGeom>
          <a:solidFill>
            <a:srgbClr val="F2F6FB"/>
          </a:solidFill>
          <a:ln w="12700">
            <a:solidFill>
              <a:srgbClr val="D9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Symbol / Scope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2633472"/>
            <a:ext cx="2103120" cy="502920"/>
          </a:xfrm>
          <a:prstGeom prst="rect">
            <a:avLst/>
          </a:prstGeom>
          <a:solidFill>
            <a:srgbClr val="1A2A5A"/>
          </a:solidFill>
          <a:ln w="12700">
            <a:solidFill>
              <a:srgbClr val="1A2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主要内容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11880" y="2633472"/>
            <a:ext cx="2331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名字、类型、位置、初始化、大小对齐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46520" y="2633472"/>
            <a:ext cx="2331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名字、类型、位置、可见性、上下文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281160" y="2633472"/>
            <a:ext cx="2331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名字、类型、owner、kind、flags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3346704"/>
            <a:ext cx="2103120" cy="502920"/>
          </a:xfrm>
          <a:prstGeom prst="rect">
            <a:avLst/>
          </a:prstGeom>
          <a:solidFill>
            <a:srgbClr val="1A2A5A"/>
          </a:solidFill>
          <a:ln w="12700">
            <a:solidFill>
              <a:srgbClr val="1A2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作用域组织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11880" y="3346704"/>
            <a:ext cx="2331720" cy="502920"/>
          </a:xfrm>
          <a:prstGeom prst="rect">
            <a:avLst/>
          </a:prstGeom>
          <a:solidFill>
            <a:srgbClr val="F2F6FB"/>
          </a:solidFill>
          <a:ln w="12700">
            <a:solidFill>
              <a:srgbClr val="D9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DECL_CONTEXT 与语言前端作用域结构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3346704"/>
            <a:ext cx="2331720" cy="502920"/>
          </a:xfrm>
          <a:prstGeom prst="rect">
            <a:avLst/>
          </a:prstGeom>
          <a:solidFill>
            <a:srgbClr val="F2F6FB"/>
          </a:solidFill>
          <a:ln w="12700">
            <a:solidFill>
              <a:srgbClr val="D9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DeclContext 嵌套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281160" y="3346704"/>
            <a:ext cx="2331720" cy="502920"/>
          </a:xfrm>
          <a:prstGeom prst="rect">
            <a:avLst/>
          </a:prstGeom>
          <a:solidFill>
            <a:srgbClr val="F2F6FB"/>
          </a:solidFill>
          <a:ln w="12700">
            <a:solidFill>
              <a:srgbClr val="D9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Scope 链 + owner 关系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" y="4059936"/>
            <a:ext cx="2103120" cy="502920"/>
          </a:xfrm>
          <a:prstGeom prst="rect">
            <a:avLst/>
          </a:prstGeom>
          <a:solidFill>
            <a:srgbClr val="1A2A5A"/>
          </a:solidFill>
          <a:ln w="12700">
            <a:solidFill>
              <a:srgbClr val="1A2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适合借鉴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11880" y="4059936"/>
            <a:ext cx="2331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声明节点携带完整属性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46520" y="4059936"/>
            <a:ext cx="2331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AST 与语义绑定紧密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281160" y="4059936"/>
            <a:ext cx="23317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实现结构清晰，适合课程项目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" y="5212080"/>
            <a:ext cx="3337560" cy="292608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6EF1"/>
                </a:solidFill>
              </a:rPr>
              <a:t>结论 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5559552"/>
            <a:ext cx="3337560" cy="429768"/>
          </a:xfrm>
          <a:prstGeom prst="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</a:rPr>
              <a:t>真实编译器通常把符号表拆成多个层次，而不是一张全局二维表。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434840" y="5212080"/>
            <a:ext cx="3337560" cy="292608"/>
          </a:xfrm>
          <a:prstGeom prst="rect">
            <a:avLst/>
          </a:prstGeom>
          <a:solidFill>
            <a:srgbClr val="E8FAF7"/>
          </a:solidFill>
          <a:ln>
            <a:solidFill>
              <a:srgbClr val="E8FAF7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9D8A"/>
                </a:solidFill>
              </a:rPr>
              <a:t>结论 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34840" y="5559552"/>
            <a:ext cx="3337560" cy="429768"/>
          </a:xfrm>
          <a:prstGeom prst="rect">
            <a:avLst/>
          </a:prstGeom>
          <a:solidFill>
            <a:srgbClr val="E8FAF7"/>
          </a:solidFill>
          <a:ln>
            <a:solidFill>
              <a:srgbClr val="E8FA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</a:rPr>
              <a:t>符号的 owner / context 是组织管理的关键，用它表达作用域、类、包和命名空间。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046720" y="5212080"/>
            <a:ext cx="3337560" cy="292608"/>
          </a:xfrm>
          <a:prstGeom prst="rect">
            <a:avLst/>
          </a:prstGeom>
          <a:solidFill>
            <a:srgbClr val="FFF4DF"/>
          </a:solidFill>
          <a:ln>
            <a:solidFill>
              <a:srgbClr val="FFF4DF"/>
            </a:solidFill>
          </a:ln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结论 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46720" y="5559552"/>
            <a:ext cx="3337560" cy="429768"/>
          </a:xfrm>
          <a:prstGeom prst="rect">
            <a:avLst/>
          </a:prstGeom>
          <a:solidFill>
            <a:srgbClr val="FFF4DF"/>
          </a:solidFill>
          <a:ln>
            <a:solidFill>
              <a:srgbClr val="FFF4D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2033"/>
                </a:solidFill>
              </a:rPr>
              <a:t>课程编译器可采用“栈式作用域 + HashMap + 符号项”实现，易调试、易扩展。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C667A"/>
                </a:solidFill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>
                <a:alpha val="0"/>
              </a:srgb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256032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可写进作业的方案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530352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小型编译器符号表设计建议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40080" y="1060704"/>
            <a:ext cx="10881360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25880"/>
            <a:ext cx="4983480" cy="4434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class Symbol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String name;       // 标识符名字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Kind kind;         // var / func / type / param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Type type;         // int、char、array、函数签名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int scopeLevel;    // 所属作用域层级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int line;          // 定义行号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Symbol owner;      // 所属函数/类，可选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class Scope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Map&lt;String, Symbol&gt; table;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  Scope parent;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5E7EB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72200" y="132588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33"/>
                </a:solidFill>
              </a:rPr>
              <a:t>管理流程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36208" y="1755648"/>
            <a:ext cx="347472" cy="347472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29984" y="1719072"/>
            <a:ext cx="1600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遇到全局声明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58200" y="1719072"/>
            <a:ext cx="2286000" cy="420624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插入 globalScope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36208" y="2432304"/>
            <a:ext cx="347472" cy="347472"/>
          </a:xfrm>
          <a:prstGeom prst="rect">
            <a:avLst/>
          </a:prstGeom>
          <a:solidFill>
            <a:srgbClr val="1F9D8A"/>
          </a:solidFill>
          <a:ln w="12700">
            <a:solidFill>
              <a:srgbClr val="1F9D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29984" y="2395728"/>
            <a:ext cx="1600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进入函数或语句块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58200" y="2395728"/>
            <a:ext cx="2286000" cy="420624"/>
          </a:xfrm>
          <a:prstGeom prst="rect">
            <a:avLst/>
          </a:prstGeom>
          <a:solidFill>
            <a:srgbClr val="E8FAF7"/>
          </a:solidFill>
          <a:ln w="12700">
            <a:solidFill>
              <a:srgbClr val="E8FA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9D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push 新 Scope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36208" y="3108960"/>
            <a:ext cx="347472" cy="347472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29984" y="3072384"/>
            <a:ext cx="1600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声明变量/参数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458200" y="3072384"/>
            <a:ext cx="2286000" cy="420624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检查当前层是否重名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36208" y="3785616"/>
            <a:ext cx="347472" cy="347472"/>
          </a:xfrm>
          <a:prstGeom prst="rect">
            <a:avLst/>
          </a:prstGeom>
          <a:solidFill>
            <a:srgbClr val="1F9D8A"/>
          </a:solidFill>
          <a:ln w="12700">
            <a:solidFill>
              <a:srgbClr val="1F9D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29984" y="3749040"/>
            <a:ext cx="1600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使用变量/函数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58200" y="3749040"/>
            <a:ext cx="2286000" cy="420624"/>
          </a:xfrm>
          <a:prstGeom prst="rect">
            <a:avLst/>
          </a:prstGeom>
          <a:solidFill>
            <a:srgbClr val="E8FAF7"/>
          </a:solidFill>
          <a:ln w="12700">
            <a:solidFill>
              <a:srgbClr val="E8FA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9D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从当前层向 parent 查找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36208" y="4462272"/>
            <a:ext cx="347472" cy="347472"/>
          </a:xfrm>
          <a:prstGeom prst="rect">
            <a:avLst/>
          </a:prstGeom>
          <a:solidFill>
            <a:srgbClr val="276EF1"/>
          </a:solidFill>
          <a:ln w="12700">
            <a:solidFill>
              <a:srgbClr val="276EF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29984" y="4425696"/>
            <a:ext cx="1600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离开作用域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58200" y="4425696"/>
            <a:ext cx="2286000" cy="420624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76EF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pop Scope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5943600"/>
            <a:ext cx="1005840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这样设计可以覆盖：重定义检查、未声明检查、函数调用参数检查、局部变量遮蔽、数组维度与常量属性记录。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C667A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3553</Words>
  <Application>WPS 演示</Application>
  <PresentationFormat>On-screen Show (16:9)</PresentationFormat>
  <Paragraphs>411</Paragraphs>
  <Slides>10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宋体</vt:lpstr>
      <vt:lpstr>Wingdings</vt:lpstr>
      <vt:lpstr>Noto Sans CJK SC</vt:lpstr>
      <vt:lpstr>Segoe Print</vt:lpstr>
      <vt:lpstr>Noto Sans CJK SC</vt:lpstr>
      <vt:lpstr>Noto Sans CJK SC</vt:lpstr>
      <vt:lpstr>Noto Sans Mono CJK SC</vt:lpstr>
      <vt:lpstr>Noto Sans Mono CJK SC</vt:lpstr>
      <vt:lpstr>Noto Sans Mono CJK SC</vt:lpstr>
      <vt:lpstr>微软雅黑</vt:lpstr>
      <vt:lpstr>Arial Unicode MS</vt:lpstr>
      <vt:lpstr>等线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ChatGPT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三种编译器符号表调研</dc:title>
  <dc:creator>OpenAI</dc:creator>
  <dc:subject>三种编译器符号表调研</dc:subject>
  <cp:lastModifiedBy>昌昂旺</cp:lastModifiedBy>
  <cp:revision>3</cp:revision>
  <dcterms:created xsi:type="dcterms:W3CDTF">2026-10-04T07:56:00Z</dcterms:created>
  <dcterms:modified xsi:type="dcterms:W3CDTF">2026-10-07T06:00:10Z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25AD056C09B042B6BAA0896BCDBAD678_12</vt:lpwstr>
  </property>
  <property fmtid="{D5CDD505-2E9C-101B-9397-08002B2CF9AE}" pid="3" name="KSOProductBuildVer">
    <vt:lpwstr>2052-12.1.0.28505</vt:lpwstr>
  </property>
</Properties>
</file>