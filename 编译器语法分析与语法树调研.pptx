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3740785" cy="13258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编译器语法分析</a:t>
            </a: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与语法树调研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5669280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回答：语法分析是否一定生成语法树？</a:t>
            </a: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比较：Clang AST 与 javac Tree API 的结构和特点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955280" y="1051560"/>
            <a:ext cx="1920240" cy="420624"/>
          </a:xfrm>
          <a:prstGeom prst="rect">
            <a:avLst/>
          </a:prstGeom>
          <a:solidFill>
            <a:srgbClr val="17233C"/>
          </a:solidFill>
          <a:ln w="12700">
            <a:solidFill>
              <a:srgbClr val="2A395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15400" y="1508760"/>
            <a:ext cx="0" cy="2926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955280" y="1892808"/>
            <a:ext cx="1920240" cy="420624"/>
          </a:xfrm>
          <a:prstGeom prst="rect">
            <a:avLst/>
          </a:prstGeom>
          <a:solidFill>
            <a:srgbClr val="17233C"/>
          </a:solidFill>
          <a:ln w="12700">
            <a:solidFill>
              <a:srgbClr val="2A395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0" cy="2926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955280" y="2734056"/>
            <a:ext cx="1920240" cy="420624"/>
          </a:xfrm>
          <a:prstGeom prst="rect">
            <a:avLst/>
          </a:prstGeom>
          <a:solidFill>
            <a:srgbClr val="17233C"/>
          </a:solidFill>
          <a:ln w="12700">
            <a:solidFill>
              <a:srgbClr val="2A395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15400" y="3191256"/>
            <a:ext cx="0" cy="2926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55280" y="3575304"/>
            <a:ext cx="192024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60A5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15400" y="4032504"/>
            <a:ext cx="0" cy="2926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55280" y="4416552"/>
            <a:ext cx="1920240" cy="420624"/>
          </a:xfrm>
          <a:prstGeom prst="rect">
            <a:avLst/>
          </a:prstGeom>
          <a:solidFill>
            <a:srgbClr val="17233C"/>
          </a:solidFill>
          <a:ln w="12700">
            <a:solidFill>
              <a:srgbClr val="2A395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核心结论：语法树不是语法分析的必选产物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语法分析的最低目标是验证 token 序列是否符合文法；语法树是常见的工程产物，但不是语法分析的定义要求。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1188720" cy="320040"/>
          </a:xfrm>
          <a:prstGeom prst="rect">
            <a:avLst/>
          </a:prstGeom>
          <a:solidFill>
            <a:srgbClr val="DCEAFE"/>
          </a:solidFill>
          <a:ln w="12700">
            <a:solidFill>
              <a:srgbClr val="9BBEF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800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不一定生成语法树。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617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语法分析器可以只判断是否合法，也可以在识别产生式的同时执行语义动作，还可以直接生成中间代码或字节码。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325880"/>
            <a:ext cx="1417320" cy="320040"/>
          </a:xfrm>
          <a:prstGeom prst="rect">
            <a:avLst/>
          </a:prstGeom>
          <a:solidFill>
            <a:srgbClr val="DDFBEA"/>
          </a:solidFill>
          <a:ln w="12700">
            <a:solidFill>
              <a:srgbClr val="8FE3B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常见选择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1874520"/>
            <a:ext cx="4663440" cy="15087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教学编译器通常生成 AST，便于打印、调试和分阶段实现。</a:t>
            </a:r>
            <a:endParaRPr lang="en-US" sz="1450" dirty="0"/>
          </a:p>
          <a:p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大型编译器通常保留 AST 或树形 IR，便于语义分析和工具生态。</a:t>
            </a:r>
            <a:endParaRPr lang="en-US" sz="1450" dirty="0"/>
          </a:p>
          <a:p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一次性解释器或简单表达式求值器可以不保留语法树。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996696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判断标准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5285232"/>
            <a:ext cx="9966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后续阶段需要多次遍历、错误定位、类型检查、IDE 支持或静态分析时，生成语法树更合适。只需要立即计算或立即翻译时，可以省略树结构。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概念区分：具体语法树、抽象语法树和中间表示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很多“语法树”讨论需要先区分树的层级。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97180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具体语法树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 Tree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完整保留产生式推导过程。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包含非终结符、括号、分号等语法细节。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971800" cy="658368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适合教学推导、语法错误定位。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4572000" y="1325880"/>
            <a:ext cx="2971800" cy="621792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抽象语法树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压缩语法细节。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保留对语义分析有用的结构。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2475" y="3520440"/>
            <a:ext cx="2981325" cy="658495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适合类型检查、符号表、重构和静态分析。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8412480" y="1325880"/>
            <a:ext cx="2971800" cy="621792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中间表示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14884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进一步面向优化和目标代码生成。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常见形式包括三地址码、SSA、LLVM IR。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3520440"/>
            <a:ext cx="2971800" cy="658368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适合数据流分析、优化和后端生成。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685800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73352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075688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词法分析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63240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465576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53128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55464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语法分析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43016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245352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32904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35240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语义分析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22792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025128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012680" y="5358384"/>
            <a:ext cx="320040" cy="0"/>
          </a:xfrm>
          <a:prstGeom prst="line">
            <a:avLst/>
          </a:prstGeom>
          <a:noFill/>
          <a:ln w="17780">
            <a:solidFill>
              <a:srgbClr val="9AA6B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415016" y="516636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88920" y="5897880"/>
            <a:ext cx="6766560" cy="320040"/>
          </a:xfrm>
          <a:prstGeom prst="rect">
            <a:avLst/>
          </a:prstGeom>
          <a:noFill/>
          <a:ln>
            <a:solidFill>
              <a:srgbClr val="F6F7F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树形表示通常位于语法分析之后，是否保留取决于后续工程目标。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方案一：语法分析后生成语法树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将一次性识别结果保存为可遍历的数据结构。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4480560" cy="411480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4160520" cy="2103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结构清晰，语义分析、类型检查、符号表构建可以分阶段完成。</a:t>
            </a:r>
            <a:endParaRPr lang="en-US" sz="1420" dirty="0"/>
          </a:p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支持多次遍历，后续优化、诊断、代码生成可以复用同一结构。</a:t>
            </a:r>
            <a:endParaRPr lang="en-US" sz="1420" dirty="0"/>
          </a:p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便于输出树形 dump，定位语法错误和调试编译器实现。</a:t>
            </a:r>
            <a:endParaRPr lang="en-US" sz="1420" dirty="0"/>
          </a:p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便于 IDE、格式化、重构、静态分析等工具开发。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6629400" y="1325880"/>
            <a:ext cx="44805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0" y="1965960"/>
            <a:ext cx="4160520" cy="2103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需要额外内存保存节点、边和源码位置信息。</a:t>
            </a:r>
            <a:endParaRPr lang="en-US" sz="1420" dirty="0"/>
          </a:p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构造树会增加前端阶段的时间开销。</a:t>
            </a:r>
            <a:endParaRPr lang="en-US" sz="1420" dirty="0"/>
          </a:p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节点体系需要持续维护，语言特性越多，设计复杂度越高。</a:t>
            </a:r>
            <a:endParaRPr lang="en-US" sz="1420" dirty="0"/>
          </a:p>
          <a:p>
            <a:r>
              <a:rPr lang="en-US" sz="14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如果树过于接近文法，后续阶段仍然需要二次清洗。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1234440" y="5166360"/>
            <a:ext cx="2011680" cy="411480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5166360"/>
            <a:ext cx="7086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课程编译器、大型语言前端、IDE、重构工具、静态分析工具。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方案二：不保留语法树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语法分析器可以在匹配产生式时直接执行动作。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297180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直接动作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2743200" cy="1371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递归下降函数返回计算结果。</a:t>
            </a:r>
            <a:endParaRPr lang="en-US" sz="1400" dirty="0"/>
          </a:p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 规约时执行语义动作。</a:t>
            </a:r>
            <a:endParaRPr lang="en-US" sz="1400" dirty="0"/>
          </a:p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一遍式编译器直接生成 IR 或目标代码。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280160"/>
            <a:ext cx="2423160" cy="411480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2148840" cy="1371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内存占用较低。</a:t>
            </a:r>
            <a:endParaRPr lang="en-US" sz="1400" dirty="0"/>
          </a:p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实现链路较短。</a:t>
            </a:r>
            <a:endParaRPr lang="en-US" sz="1400" dirty="0"/>
          </a:p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对小语言或表达式求值足够高效。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18120" y="1280160"/>
            <a:ext cx="2697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2514600" cy="1371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多遍分析困难。</a:t>
            </a:r>
            <a:endParaRPr lang="en-US" sz="1400" dirty="0"/>
          </a:p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错误恢复和定位能力较弱。</a:t>
            </a:r>
            <a:endParaRPr lang="en-US" sz="1400" dirty="0"/>
          </a:p>
          <a:p>
            <a:r>
              <a:rPr lang="en-US" sz="14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不利于后续重构、优化和工具支持。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4160520"/>
            <a:ext cx="8549640" cy="150876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// 表达式求值器可以不建树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int parseExpr()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int value = parseTerm();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while (match('+'))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value += parseTerm();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return value;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选择的两种生成语法树的编译器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Clang 与 javac 都提供可观察、可遍历的树结构，但面向的语言和工具生态不同。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4800600" cy="47548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/ LLVM 前端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800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C、C++、Objective-C。Clang 的 AST 接近源代码和语言规范，并支持通过 -ast-dump 查看树形结构。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800600" cy="868680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代表特点：节点类型丰富；保留类型、源码位置、隐式转换等信息；适合诊断、重构、静态分析和格式化。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1325880"/>
            <a:ext cx="4800600" cy="475488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javac / Java 编译器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800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Java。JDK 提供 Compiler Tree API，使用 CompilationUnitTree、ClassTree、MethodTree 等接口表示源代码树。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800600" cy="868680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代表特点：接口化程度高；Visitor/TreeScanner 遍历方式稳定；适合代码检查、注解相关工具和 Java 源码分析。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965960" y="5349240"/>
            <a:ext cx="8183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后续示例使用同一逻辑：函数接收参数 x，计算 y = x + 1，然后返回 y。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Clang AST：结构说明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Clang AST 的顶层通常是 TranslationUnitDecl，下面包含声明、语句、表达式和类型等节点。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2103120" cy="38404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层次说明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429000" cy="2606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3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TranslationUnitDecl：翻译单元根节点。</a:t>
            </a:r>
            <a:endParaRPr lang="en-US" sz="1330" dirty="0"/>
          </a:p>
          <a:p>
            <a:r>
              <a:rPr lang="en-US" sz="133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Decl：函数、变量、类型等声明。</a:t>
            </a:r>
            <a:endParaRPr lang="en-US" sz="1330" dirty="0"/>
          </a:p>
          <a:p>
            <a:r>
              <a:rPr lang="en-US" sz="133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Stmt：语句节点。</a:t>
            </a:r>
            <a:endParaRPr lang="en-US" sz="1330" dirty="0"/>
          </a:p>
          <a:p>
            <a:r>
              <a:rPr lang="en-US" sz="133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Expr：表达式节点；在 Clang 中 Expr 也是 Stmt。</a:t>
            </a:r>
            <a:endParaRPr lang="en-US" sz="1330" dirty="0"/>
          </a:p>
          <a:p>
            <a:r>
              <a:rPr lang="en-US" sz="133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 / DeclContext：类型系统和作用域结构。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2103120" cy="38404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结构特点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534924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AST 保留大量语义信息，因此树形 dump 往往比课堂上的 AST 更详细。</a:t>
            </a:r>
            <a:endParaRPr lang="en-US" sz="1350" dirty="0"/>
          </a:p>
        </p:txBody>
      </p:sp>
      <p:pic>
        <p:nvPicPr>
          <p:cNvPr id="10" name="Image 0" descr="/mnt/data/opt_clang_ast_tr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51560"/>
            <a:ext cx="66751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Clang 示例程序与树形结果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树中重点观察 FunctionDecl、ParmVarDecl、VarDecl、BinaryOperator、ReturnStmt。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3749040" cy="13258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int add(int x) {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int y = x + 1;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return y;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3749040" cy="38404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93008"/>
            <a:ext cx="3337560" cy="1600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FunctionDecl 对应 add 函数。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ParmVarDecl 对应形参 x。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VarDecl 对应局部变量 y。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BinaryOperator 对应 x + 1。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ReturnStmt 对应 return y。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6355080" cy="38404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树形展示</a:t>
            </a:r>
            <a:endParaRPr lang="en-US" sz="1700" dirty="0"/>
          </a:p>
        </p:txBody>
      </p:sp>
      <p:pic>
        <p:nvPicPr>
          <p:cNvPr id="10" name="Image 0" descr="/mnt/data/opt_clang_ast_tr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783080"/>
            <a:ext cx="539496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5532120"/>
            <a:ext cx="6355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关键路径：TranslationUnitDecl → FunctionDecl → CompoundStmt → DeclStmt / ReturnStmt。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javac Tree API：结构说明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javac 将 Java 源文件表示为一组 Tree 接口，根节点通常是 CompilationUnitTree。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2103120" cy="384048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层次说明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429000" cy="2788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CompilationUnitTree：一个 Java 源文件。</a:t>
            </a:r>
            <a:endParaRPr lang="en-US" sz="1300" dirty="0"/>
          </a:p>
          <a:p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ClassTree：类、接口、枚举、记录等类型声明。</a:t>
            </a:r>
            <a:endParaRPr lang="en-US" sz="1300" dirty="0"/>
          </a:p>
          <a:p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MethodTree：方法或构造方法。</a:t>
            </a:r>
            <a:endParaRPr lang="en-US" sz="1300" dirty="0"/>
          </a:p>
          <a:p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VariableTree：字段、局部变量、形参。</a:t>
            </a:r>
            <a:endParaRPr lang="en-US" sz="1300" dirty="0"/>
          </a:p>
          <a:p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BlockTree：语句块。</a:t>
            </a:r>
            <a:endParaRPr lang="en-US" sz="1300" dirty="0"/>
          </a:p>
          <a:p>
            <a:r>
              <a:rPr lang="en-US" sz="13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ExpressionTree / StatementTree：表达式和语句接口。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2103120" cy="384048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结构特点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5468112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javac Tree API 强调稳定接口和访问者模式，适合 Java 源码工具遍历。</a:t>
            </a:r>
            <a:endParaRPr lang="en-US" sz="1350" dirty="0"/>
          </a:p>
        </p:txBody>
      </p:sp>
      <p:pic>
        <p:nvPicPr>
          <p:cNvPr id="10" name="Image 0" descr="/mnt/data/opt_javac_tr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51560"/>
            <a:ext cx="66751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javac 示例程序与树形结果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Java 示例比 C 示例多出类结构，因此树中包含 ClassTree。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115568"/>
            <a:ext cx="3886200" cy="187452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class Demo {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int add(int x) {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int y = x + 1;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return y;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}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}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77240" y="3355848"/>
            <a:ext cx="3886200" cy="384048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3474720" cy="15087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CompilationUnitTree 对应源文件。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ClassTree 对应 Demo 类。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MethodTree 对应 add 方法。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VariableTree 同时表示形参和局部变量。</a:t>
            </a:r>
            <a:endParaRPr lang="en-US" sz="1320" dirty="0"/>
          </a:p>
          <a:p>
            <a:r>
              <a:rPr lang="en-US" sz="13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BinaryTree 表示 x + 1。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983480" y="1143000"/>
            <a:ext cx="6217920" cy="384048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树形展示</a:t>
            </a:r>
            <a:endParaRPr lang="en-US" sz="1700" dirty="0"/>
          </a:p>
        </p:txBody>
      </p:sp>
      <p:pic>
        <p:nvPicPr>
          <p:cNvPr id="10" name="Image 0" descr="/mnt/data/opt_javac_tr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737360"/>
            <a:ext cx="530352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83480" y="5486400"/>
            <a:ext cx="6217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关键路径：CompilationUnitTree → ClassTree → MethodTree → BlockTree → VariableTree / ReturnTree。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Clang AST 与 javac Tree API 对比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两者都生成树，但设计目标不同。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691640" cy="393192"/>
          </a:xfrm>
          <a:prstGeom prst="rect">
            <a:avLst/>
          </a:prstGeom>
          <a:solidFill>
            <a:srgbClr val="E8ECF4"/>
          </a:solidFill>
          <a:ln w="12700">
            <a:solidFill>
              <a:srgbClr val="CAD3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1143000"/>
            <a:ext cx="3703320" cy="393192"/>
          </a:xfrm>
          <a:prstGeom prst="rect">
            <a:avLst/>
          </a:prstGeom>
          <a:solidFill>
            <a:srgbClr val="DCEAFE"/>
          </a:solidFill>
          <a:ln w="12700">
            <a:solidFill>
              <a:srgbClr val="CAD3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AST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20840" y="1143000"/>
            <a:ext cx="4389120" cy="393192"/>
          </a:xfrm>
          <a:prstGeom prst="rect">
            <a:avLst/>
          </a:prstGeom>
          <a:solidFill>
            <a:srgbClr val="DDFBEA"/>
          </a:solidFill>
          <a:ln w="12700">
            <a:solidFill>
              <a:srgbClr val="CAD3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javac Tree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根节点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TranslationUnitDecl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720840" y="173736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CompilationUnitTree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85800" y="2432304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节点风格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697480" y="2432304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C++ 类层次，Decl / Stmt / Expr / Type 等。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720840" y="2432304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 接口层次，Tree 及其子接口。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信息粒度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697480" y="3127248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保留类型、源码位置、隐式转换和部分语法细节。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720840" y="3127248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Java 源文件结构，强调 Visitor 遍历。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85800" y="3822192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适用工具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697480" y="3822192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clang-tidy、clang-format、重构、静态分析。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720840" y="3822192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代码检查器、注解相关工具、Java 源码扫描器。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85800" y="4517136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学习难度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2697480" y="4517136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节点类型很多，学习成本较高。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720840" y="4517136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接口关系较清晰，面向 Java 语法较直观。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051560" y="5623560"/>
            <a:ext cx="10058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结论：Clang AST 更强调复杂语言细节；javac Tree API 更强调 Java 工具生态中的稳定遍历接口。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课程编译器实现建议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建议先生成 AST，再进行语义分析和中间代码生成。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5087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Lexer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508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序列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40280" y="2304288"/>
            <a:ext cx="530352" cy="0"/>
          </a:xfrm>
          <a:prstGeom prst="line">
            <a:avLst/>
          </a:prstGeom>
          <a:noFill/>
          <a:ln w="2032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26080" y="1828800"/>
            <a:ext cx="1508760" cy="457200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1508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 AST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2304288"/>
            <a:ext cx="530352" cy="0"/>
          </a:xfrm>
          <a:prstGeom prst="line">
            <a:avLst/>
          </a:prstGeom>
          <a:noFill/>
          <a:ln w="2032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212080" y="1828800"/>
            <a:ext cx="1508760" cy="457200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Semantic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12080" y="2514600"/>
            <a:ext cx="1508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符号表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类型检查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12280" y="2304288"/>
            <a:ext cx="530352" cy="0"/>
          </a:xfrm>
          <a:prstGeom prst="line">
            <a:avLst/>
          </a:prstGeom>
          <a:noFill/>
          <a:ln w="2032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98080" y="1828800"/>
            <a:ext cx="150876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IR Gen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98080" y="2514600"/>
            <a:ext cx="1508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三地址码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 LLVM IR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98280" y="2304288"/>
            <a:ext cx="530352" cy="0"/>
          </a:xfrm>
          <a:prstGeom prst="line">
            <a:avLst/>
          </a:prstGeom>
          <a:noFill/>
          <a:ln w="20320">
            <a:solidFill>
              <a:srgbClr val="7C879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784080" y="1828800"/>
            <a:ext cx="15087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Backend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84080" y="2514600"/>
            <a:ext cx="1508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目标代码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或解释执行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2423160" cy="38404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节点建议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645152"/>
            <a:ext cx="283464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Program / FuncDecl / VarDecl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 / If / While / Return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BinaryExpr / UnaryExpr / CallExpr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Literal / Identifier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4617720" y="4160520"/>
            <a:ext cx="2423160" cy="384048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每个节点至少保存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4645152"/>
            <a:ext cx="251460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节点类型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子节点列表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源码行号与列号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可选类型信息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275320" y="4160520"/>
            <a:ext cx="242316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实现顺序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4645152"/>
            <a:ext cx="2560320" cy="9601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先完成 AST 打印。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再完成符号表和类型检查。</a:t>
            </a:r>
            <a:endParaRPr lang="en-US" sz="1180" dirty="0"/>
          </a:p>
          <a:p>
            <a:r>
              <a:rPr lang="en-US" sz="118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最后生成 IR 或目标代码。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总结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本调研可以形成三个结论。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5029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353312"/>
            <a:ext cx="3886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语法分析不一定生成语法树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920240"/>
            <a:ext cx="8778240" cy="530352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语法分析的基础任务是判断 token 序列是否符合文法。是否保存树结构是工程设计选择。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502920" cy="502920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2770632"/>
            <a:ext cx="3886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AST 更适合可维护的编译器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37560"/>
            <a:ext cx="8778240" cy="530352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支持多阶段分析、错误定位、工具扩展和调试展示，但会带来内存、时间和节点设计成本。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solidFill>
            <a:srgbClr val="DDFBEA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08760" y="418795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与 javac 展示了两种典型树结构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54880"/>
            <a:ext cx="8778240" cy="530352"/>
          </a:xfrm>
          <a:prstGeom prst="rect">
            <a:avLst/>
          </a:prstGeom>
          <a:solidFill>
            <a:srgbClr val="FAFBFD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AST 适合表达 C/C++ 复杂语义细节。javac Tree API 适合 Java 源码工具按接口遍历。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7280" y="5897880"/>
            <a:ext cx="1001268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课程建议：实现 Parser 时生成 AST，并提供 dump 输出，后续再补充符号表、类型检查和 IR 生成。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8595360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2033"/>
                </a:solidFill>
              </a:rPr>
              <a:t>参考资料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777240"/>
            <a:ext cx="905256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</a:rPr>
              <a:t>本页列出用于支撑结构说明的公开资料。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10515600" cy="17830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Documentation：Introduction to the Clang AST。</a:t>
            </a:r>
            <a:endParaRPr lang="en-US" sz="1500" dirty="0"/>
          </a:p>
          <a:p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 Documentation：LibASTMatchers / Matching the Clang AST。</a:t>
            </a:r>
            <a:endParaRPr lang="en-US" sz="1500" dirty="0"/>
          </a:p>
          <a:p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Oracle JDK Documentation：Compiler Tree API。</a:t>
            </a:r>
            <a:endParaRPr lang="en-US" sz="1500" dirty="0"/>
          </a:p>
          <a:p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Inside Java：The javac Tree API。</a:t>
            </a:r>
            <a:endParaRPr lang="en-US" sz="1500" dirty="0"/>
          </a:p>
          <a:p>
            <a:r>
              <a:rPr lang="en-US" sz="1500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Dragon Book 与常见编译原理教材中关于语法分析、AST 和中间表示的章节。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926080" cy="384048"/>
          </a:xfrm>
          <a:prstGeom prst="rect">
            <a:avLst/>
          </a:prstGeom>
          <a:solidFill>
            <a:srgbClr val="DC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可在正文中使用的检索关键词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10332720" cy="137160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Clang AST dump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Clang Introduction to the Clang AST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Oracle Compiler Tree API CompilationUnitTree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Inside Java javac Tree API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E1726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Abstract Syntax Tree compiler design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51560" y="5897880"/>
            <a:ext cx="10012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说明：PPT 中的示例树为了汇报清晰进行了简化。真实编译器输出通常包含更多节点、类型、源码位置和隐式转换信息。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4215</Words>
  <Application>WPS 演示</Application>
  <PresentationFormat>On-screen Show (16:9)</PresentationFormat>
  <Paragraphs>391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Cascadia Mono</vt:lpstr>
      <vt:lpstr>Cascadia Mono</vt:lpstr>
      <vt:lpstr>Cascadia Mono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编译器语法分析与语法树调研</dc:title>
  <dc:creator>OpenAI</dc:creator>
  <dc:subject>编译器语法分析与语法树调研</dc:subject>
  <cp:lastModifiedBy>昌昂旺</cp:lastModifiedBy>
  <cp:revision>3</cp:revision>
  <dcterms:created xsi:type="dcterms:W3CDTF">2026-09-26T07:36:00Z</dcterms:created>
  <dcterms:modified xsi:type="dcterms:W3CDTF">2026-09-26T11:05:48Z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9B13F19110C64AA4A170D7EBBA42A3BE_12</vt:lpwstr>
  </property>
  <property fmtid="{D5CDD505-2E9C-101B-9397-08002B2CF9AE}" pid="3" name="KSOProductBuildVer">
    <vt:lpwstr>2052-12.1.0.28505</vt:lpwstr>
  </property>
</Properties>
</file>